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Good morning respected members of the panel, our project guide Dr. Leena Chandrashekar, reviewer Dr. Srikanth G N, and faculty members. Today, Group 10 presents our Major Project: Device-Free Through-Wall Human Activity Recognition and Fall Detection using Dual ESP32-S3 Wi-Fi Channel State Information and our custom Squeeze-and-Excitation Temporal Convolutional Deep Learning Network.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Our presentation is divided into four technical sections. I will cover the hardware testbed and system motivation; Speaker 2 will detail our DSP pipeline and experimental audit; Speaker 3 will present our SE-TCN Deep Learning architecture and rigorous dual-metric evaluation; and Speaker 4 will discuss our live deployment, real-world constraints, and viva voce defense.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Falls represent the leading cause of accidental injury among the elderly. Existing solutions fail in practice: smartwatches and emergency pendants are frequently forgotten on bedside chargers, while optical cameras are unacceptable due to invasive privacy violations in bedrooms and bathrooms. </a:t>
            </a:r>
          </a:p>
          <a:p>
            <a:r>
              <a:t>Our project solves this dilemma by turning ambient Wi-Fi into an invisible radar. When a person falls or walks, their body reflects Wi-Fi signals, creating distinct Doppler signatures. This provides completely passive, through-wall detection with zero cameras and zero wearables.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To understand why our system works, we must compare RSSI with Channel State Information (CSI). RSSI is merely a single scalar power reading that fluctuates wildly and cannot distinguish a fall from normal movement. </a:t>
            </a:r>
          </a:p>
          <a:p>
            <a:r>
              <a:t>In contrast, 802.11n Wi-Fi utilizes Orthogonal Frequency Division Multiplexing. The Channel State Information matrix provides a complex phasor—both amplitude and phase—for 114 distinct subcarrier frequencies simultaneously. This allows us to track fine-grained micro-Doppler signatures caused by body motion.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Here is our physical hardware implementation. We deployed three ESP32-S3 microcontrollers: one Transmitter broadcasting at 200 Hz, and two separate Receivers, RX1 and RX2, positioned orthogonally. </a:t>
            </a:r>
          </a:p>
          <a:p>
            <a:r>
              <a:t>This dual-receiver geometry is critical: a single Wi-Fi link suffers from geometric blind spots when a person moves parallel to the beam. By adding a second orthogonal receiver, we achieve spatial diversity. </a:t>
            </a:r>
          </a:p>
          <a:p>
            <a:r>
              <a:t>Our firmware was written in bare-metal C using ESP-IDF v5.1.2, capturing 114 subcarriers directly from the Wi-Fi baseband and streaming over 921,600 baud UART.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When coordinating two independent wireless receivers, internal clock drift causes timestamps to separate. Furthermore, one receiver might drop a packet while the other catches it. </a:t>
            </a:r>
          </a:p>
          <a:p>
            <a:r>
              <a:t>To guarantee microsecond synchronization, our transmitter firmware injects a 32-bit sequence number into every packet. Our ingestion engine matches RX1 and RX2 packets strictly by this sequence ID. Any isolated packet drops are reconstructed using complex phasor interpolation, ensuring coherent dual-receiver signals.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I am Speaker 2, Mohith Gowda, and I will present our dataset audit and digital signal processing pipeline. </a:t>
            </a:r>
          </a:p>
          <a:p>
            <a:r>
              <a:t>Our curated library dataset contains 202 takes across 6 volunteers and 8 activities plus empty rooms, yielding 2,401 4-second windows. </a:t>
            </a:r>
          </a:p>
          <a:p>
            <a:r>
              <a:t>In Phase 0, we conducted a cryptographic SHA-256 audit. Volunteers S1 through S4 were recorded in the morning, while S5 and S6 were recorded in the afternoon following a transmitter realignment. This static channel shift means S5 and S6 serve as true cross-session test folds, providing an honest evaluation of whether models generalize across physical setup changes.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In our digital signal processing pipeline, we first verified the physical subcarrier architecture on our hardware. Out of 128 theoretical FFT bins, exactly 114 active subcarriers carry signal energy—bins -58 to -2 and +2 to +58—with DC and guard bands remaining null. </a:t>
            </a:r>
          </a:p>
          <a:p>
            <a:r>
              <a:t>Packets are synchronized by sequence number, and missing packets are reconstructed via linear phasor interpolation. Crucially, our diagnostic analysis in Decision D-039 showed that relaxing a rigid 10% packet loss gate to 20% reduced discarded windows from 27.8% down to 3.9%, recovering 67% of S1's data while maintaining signal fidelity.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To prepare the raw CSI for feature extraction, we implemented two DSP stages. First, because human movements generate Doppler frequencies strictly below 35 Hz, we applied a 27-tap linear-phase anti-aliasing FIR filter and decimated the signal from 200 Hz to 100 Hz, removing noise without phase distortion. </a:t>
            </a:r>
          </a:p>
          <a:p>
            <a:r>
              <a:t>Second, we discovered that the ESP32 internal AGC caused artificial 6.1 dB amplitude drops across consecutive packets. We eliminated these hardware artifacts by applying per-packet mean normalization, completely removing step discontinuities.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Raw Wi-Fi phase is notoriously corrupted by hardware synchronization noise, appearing as pure random distribution with a circular standard deviation of 2.82 radians. </a:t>
            </a:r>
          </a:p>
          <a:p>
            <a:r>
              <a:t>Under Decision D-036, we built a two-stage phase sanitizer: we first unwrap the phase across the 114 subcarriers, and then perform least-squares linear detrending on every packet to subtract the random slope and offset. </a:t>
            </a:r>
          </a:p>
          <a:p>
            <a:r>
              <a:t>This reduced the phase noise floor to just 0.14 radians, allowing us to capture fine-grained chest displacements and limb movements.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This slide highlights our most critical experimental discovery: the Position Confound under Decision D-024. </a:t>
            </a:r>
          </a:p>
          <a:p>
            <a:r>
              <a:t>In any room, activities are tied to furniture. Sitting at Chair A shadows Receiver 1, producing a unique static frequency attenuation. If a machine learning model is fed raw amplitudes or RSSI, it easily achieves 95% accuracy—not by recognizing the physical action of sitting, but by memorizing the location of Chair A! </a:t>
            </a:r>
          </a:p>
          <a:p>
            <a:r>
              <a:t>To ensure scientific integrity, we separated our features into static and dynamic sets, enforcing that all event and fall classifiers learn strictly from dynamic Doppler motion.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Our engineered feature space, version f2, contains 83 mathematical features per 4-second window. </a:t>
            </a:r>
          </a:p>
          <a:p>
            <a:r>
              <a:t>Thirty-three features capture static spatial levels, used for presence detection. </a:t>
            </a:r>
          </a:p>
          <a:p>
            <a:r>
              <a:t>Fifty features capture dynamic kinematics: sliding temporal standard deviations, FFT Doppler bandpowers isolating walking strides from high-frequency fall impacts, inter-carrier coherence, and phase circular variance. </a:t>
            </a:r>
          </a:p>
          <a:p>
            <a:r>
              <a:t>This provides a comprehensive kinematic profile of human movement.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I am Speaker 3, Manoj K C, and I will present our modeling benchmarks, deep learning architecture, and dual-metric evaluation. </a:t>
            </a:r>
          </a:p>
          <a:p>
            <a:r>
              <a:t>In machine learning research, random 80/20 train-test splits suffer from fatal data leakage because identical subject reflections leak into both splits. </a:t>
            </a:r>
          </a:p>
          <a:p>
            <a:r>
              <a:t>We enforced strict 6-Fold Leave-One-Subject-Out cross-validation. When evaluating on Subject 1, all data from Subject 1 is completely withheld from training. Furthermore, we report both Overall Accuracy and Balanced Macro-F1 to ensure total scientific transparency.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Choosing the time window duration is an essential engineering decision. Under Decision D-046, we evaluated 2-second, 3-second, and 4-second windows. </a:t>
            </a:r>
          </a:p>
          <a:p>
            <a:r>
              <a:t>The benchmark yielded 0.533 for 2s, 0.582 for 3s, and a winning 0.603 for 4s. </a:t>
            </a:r>
          </a:p>
          <a:p>
            <a:r>
              <a:t>Physically, a human fall is not an instantaneous spike; it is a kinetic sequence comprising loss of balance, descent, ground impact, and subsequent stillness. A 4-second window captures this complete sequence while refreshing predictions every 500 ms.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Slide 15 presents our Track A classical machine learning benchmarks. On 4-second windows, SVM-RBF achieved 0.539 macro-F1 on events, Extra Trees achieved 0.572 on postural states, and Logistic Regression achieved 0.698 on presence. </a:t>
            </a:r>
          </a:p>
          <a:p>
            <a:r>
              <a:t>As our project guide correctly pointed out, classical models rely entirely on hand-crafted statistical features. They cannot learn end-to-end representations directly from raw RF signals. Therefore, we use these classical models strictly as empirical baselines to evaluate our deep learning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When prior works and our initial Track C tested standard deep networks—like vanilla TCNs, LSTMs, and Transformers—they severely failed! Macro-F1 collapsed to 0.26 to 0.34, and vanilla TCN caught only 26.5% of falls, while LSTM caught only 16.8%. </a:t>
            </a:r>
          </a:p>
          <a:p>
            <a:r>
              <a:t>Why? Because with 81% non-events, standard Cross-Entropy loss collapses into predicting 'nothing happened'. Furthermore, standard networks lack subcarrier attention, allowing noisy dead subcarriers to overwhelm the gradients. We engineered our custom SE-TCN specifically to solve these bottlenecks.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To solve these challenges, we designed the Squeeze-and-Excitation Temporal Convolutional Network (SE-TCN) with Focal Loss. </a:t>
            </a:r>
          </a:p>
          <a:p>
            <a:r>
              <a:t>First, it ingests 32 dual-receiver subcarrier streams directly at 50 Hz. </a:t>
            </a:r>
          </a:p>
          <a:p>
            <a:r>
              <a:t>Second, our Squeeze-and-Excitation attention gate dynamically suppresses noisy multipath channels while boosting active kinetic carriers. </a:t>
            </a:r>
          </a:p>
          <a:p>
            <a:r>
              <a:t>Third, four stacked residual dilated Conv1D blocks with dilations 1, 2, 4, and 8 span receptive fields from 60 milliseconds to 4 seconds. </a:t>
            </a:r>
          </a:p>
          <a:p>
            <a:r>
              <a:t>Finally, Multiclass Focal Loss with gamma=2.0 suppresses 99% of easy background gradients, compelling the network to learn hard fall kinetics.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Slide 18 presents our definitive master comparison table across all 6 LOSO folds, reporting both Overall Accuracy and Macro-F1. </a:t>
            </a:r>
          </a:p>
          <a:p>
            <a:r>
              <a:t>For Presence Detection, our SE-TCN achieves 87.03% accuracy, reaching 94.7% on Subject 6. </a:t>
            </a:r>
          </a:p>
          <a:p>
            <a:r>
              <a:t>For Postural State Recognition, SE-TCN achieves 56.62% accuracy, reaching an astounding 91.08% accuracy and 0.9001 Macro-F1 on Subject 6! </a:t>
            </a:r>
          </a:p>
          <a:p>
            <a:r>
              <a:t>Most importantly, for Fall Detection, our optimized SE-TCN achieved a Pooled Macro-F1 of 0.3536—surpassing every single deep learning baseline from earlier work, catching over 80% of falls on cross-session afternoon volunteers! This proves the architectural efficacy of our deep learning design.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I am Speaker 4, Nikhil M, and I will present our live alarm engine, library trial, and system limitations. </a:t>
            </a:r>
          </a:p>
          <a:p>
            <a:r>
              <a:t>In a real-world deployment, human monitoring is a continuous temporal stream, not isolated windows. Under Decision D-051, we engineered an end-to-end Fall Alarm Chain using calibrated posterior probabilities. </a:t>
            </a:r>
          </a:p>
          <a:p>
            <a:r>
              <a:t>An emergency alarm triggers only if 2 out of 3 consecutive overlapping windows exceed a 0.50 probability threshold, followed by a 10-second cooldown. Across all 202 continuous takes, this chain caught 21 of 42 falls with a median latency of 1.99 seconds while rejecting 93% of look-alike movements.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Slide 20 shows our embedded firmware architecture. Running on dual-core 240 MHz ESP32-S3 microcontrollers under FreeRTOS, Core 0 handles baseband Wi-Fi packet reception while Core 1 streams CSI data over DMA-backed UART at 921,600 baud. </a:t>
            </a:r>
          </a:p>
          <a:p>
            <a:r>
              <a:t>This zero-copy architecture guarantees sub-4-millisecond transfer latency without dropped packets. The compiled firmware consumes under 900 KB of flash and ran for 8 continuous hours with zero watchdog resets.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Our software architecture is organized into a modular streaming engine. A background process continuously aligns incoming packets and generates overlapping 4-second windows every 500 ms. </a:t>
            </a:r>
          </a:p>
          <a:p>
            <a:r>
              <a:t>Our complete inference pipeline executes in under 67 ms on a standard laptop CPU—well below the 500 ms cycle deadline. </a:t>
            </a:r>
          </a:p>
          <a:p>
            <a:r>
              <a:t>A real-time WebSocket dashboard visualizes the subcarrier waterfall, Doppler energy, and triggers immediate visual and audio alerts when a fall is detected, operating 100% locally without cloud dependence.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On October 23, we conducted extensive field trials in the RNSIT Central Library hall—a large 14 by 10 meter hall with active student Wi-Fi traffic. </a:t>
            </a:r>
          </a:p>
          <a:p>
            <a:r>
              <a:t>We deployed our tripods, calibrated the environment with a 60-second baseline capture, and ran our decoupled engine. In Phase 5 testing, replaying raw recorded takes through our live pipeline yielded bit-identical predictions compared to offline scripts, confirming complete software reliability.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Real engineering involves unexpected challenges. During our first live trial, Receiver 2 suddenly lost all Doppler sensitivity. Curiously, software showed normal RSSI and 200 Hz packet reception! </a:t>
            </a:r>
          </a:p>
          <a:p>
            <a:r>
              <a:t>Upon physical inspection, we discovered that the tiny U.FL antenna connector had loosened during transport. It allowed gross power through, but destroyed high-frequency phase coherence. </a:t>
            </a:r>
          </a:p>
          <a:p>
            <a:r>
              <a:t>We re-seated the connector, secured it with kapton tape, and phase stability was immediately restored. This demonstrated the vital difference between coarse RSSI and phase-coherent CSI.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Following the connector repair, we conducted our final 14-minute continuous live trial across 1658 consecutive inference cycles. </a:t>
            </a:r>
          </a:p>
          <a:p>
            <a:r>
              <a:t>When walking across the link on Path 2, the system recognized walking in 37 out of 42 windows—an 88.1% success rate! </a:t>
            </a:r>
          </a:p>
          <a:p>
            <a:r>
              <a:t>However, walking along the line-of-sight on Path 1 was mostly missed, revealing a geometric Doppler blind zone. </a:t>
            </a:r>
          </a:p>
          <a:p>
            <a:r>
              <a:t>Furthermore, while the fall was detected in 2 windows, its probability peaked at 0.28, failing to cross the 0.50 threshold to sound the alarm. Ambient library interference and presence baseline drift reduced live sensitivity relative to offline benchmarks.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In keeping with our commitment to engineering integrity, Slide 25 outlines the explicit boundaries of our study. </a:t>
            </a:r>
          </a:p>
          <a:p>
            <a:r>
              <a:t>Our dataset comes from a single library room and 6 healthy young volunteers performing simulated falls onto a mattress at Spot M. </a:t>
            </a:r>
          </a:p>
          <a:p>
            <a:r>
              <a:t>We identified real technical bottlenecks: directional blind zones along the radio link, presence baseline drift across different days, and the physical vulnerability of micro-RF connectors. Acknowledging these limitations openly is essential for credible engineering research.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In conclusion, we have designed, implemented, and validated a complete device-free human activity recognition and fall detection platform. We engineered the SE-TCN Deep Learning architecture to overcome small-data multipath overfitting, doubling fall sensitivity while maintaining 100% privacy at under $15 hardware cost. </a:t>
            </a:r>
          </a:p>
          <a:p>
            <a:r>
              <a:t>Our entire codebase is 100% reproducible from raw bytes in 11 minutes. </a:t>
            </a:r>
          </a:p>
          <a:p>
            <a:r>
              <a:t>We thank our guide, Dr. Leena Chandrashekar, reviewer Dr. Srikanth G N, and the Department of ECE. We are now open for viva voce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10332720" cy="2011680"/>
          </a:xfrm>
          <a:prstGeom prst="rect">
            <a:avLst/>
          </a:prstGeom>
          <a:noFill/>
        </p:spPr>
        <p:txBody>
          <a:bodyPr wrap="square">
            <a:spAutoFit/>
          </a:bodyPr>
          <a:lstStyle/>
          <a:p>
            <a:pPr>
              <a:defRPr sz="3200" b="1">
                <a:solidFill>
                  <a:srgbClr val="FFFFFF"/>
                </a:solidFill>
              </a:defRPr>
            </a:pPr>
            <a:r>
              <a:t>Device-Free Through-Wall Human Activity Recognition &amp; Fall Detection</a:t>
            </a:r>
          </a:p>
          <a:p>
            <a:pPr>
              <a:defRPr sz="1800">
                <a:solidFill>
                  <a:srgbClr val="0D9488"/>
                </a:solidFill>
              </a:defRPr>
            </a:pPr>
            <a:r>
              <a:t>Leveraging Dual ESP32-S3 Wi-Fi Channel State Information (CSI) and Squeeze-and-Excitation Temporal Convolutional Networks (SE-TCN)</a:t>
            </a:r>
          </a:p>
        </p:txBody>
      </p:sp>
      <p:sp>
        <p:nvSpPr>
          <p:cNvPr id="4" name="Rounded Rectangle 3"/>
          <p:cNvSpPr/>
          <p:nvPr/>
        </p:nvSpPr>
        <p:spPr>
          <a:xfrm>
            <a:off x="914400" y="3657600"/>
            <a:ext cx="10332720" cy="237744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3840480"/>
            <a:ext cx="9784080" cy="2011680"/>
          </a:xfrm>
          <a:prstGeom prst="rect">
            <a:avLst/>
          </a:prstGeom>
          <a:noFill/>
        </p:spPr>
        <p:txBody>
          <a:bodyPr wrap="square">
            <a:spAutoFit/>
          </a:bodyPr>
          <a:lstStyle/>
          <a:p>
            <a:pPr>
              <a:defRPr sz="1400" b="1">
                <a:solidFill>
                  <a:srgbClr val="FFFFFF"/>
                </a:solidFill>
              </a:defRPr>
            </a:pPr>
            <a:r>
              <a:t>Institution: R.N.S. Institute of Technology | Department of Electronics and Communication Engineering</a:t>
            </a:r>
          </a:p>
          <a:p>
            <a:pPr>
              <a:defRPr sz="1300">
                <a:solidFill>
                  <a:srgbClr val="10B981"/>
                </a:solidFill>
              </a:defRPr>
            </a:pPr>
            <a:r>
              <a:t>Major Project 2025–2026 | Group 10 | 8th Semester B.E.</a:t>
            </a:r>
          </a:p>
          <a:p>
            <a:pPr>
              <a:defRPr sz="1200">
                <a:solidFill>
                  <a:srgbClr val="F1F5F9"/>
                </a:solidFill>
              </a:defRPr>
            </a:pPr>
            <a:r>
              <a:t>Project Team: Mehar Adil (1RN22EC081), Mohith Gowda M (1RN22EC087), Manoj K C (1RN22EC078), Nikhil M (1RN22EC099)</a:t>
            </a:r>
          </a:p>
          <a:p>
            <a:pPr>
              <a:defRPr sz="1200">
                <a:solidFill>
                  <a:srgbClr val="64748B"/>
                </a:solidFill>
              </a:defRPr>
            </a:pPr>
            <a:r>
              <a:t>Project Guide: Dr. Leena Chandrashekar, Associate Professor, Dept. of ECE | Reviewer: Dr. Srikanth G 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OVERVIEW</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Presentation Structure &amp; Speaker Roles</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Group 10</a:t>
            </a:r>
          </a:p>
        </p:txBody>
      </p:sp>
      <p:sp>
        <p:nvSpPr>
          <p:cNvPr id="6" name="Rounded Rectangle 5"/>
          <p:cNvSpPr/>
          <p:nvPr/>
        </p:nvSpPr>
        <p:spPr>
          <a:xfrm>
            <a:off x="731520" y="1280160"/>
            <a:ext cx="106984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280160"/>
            <a:ext cx="106984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53312"/>
            <a:ext cx="10332719" cy="365760"/>
          </a:xfrm>
          <a:prstGeom prst="rect">
            <a:avLst/>
          </a:prstGeom>
          <a:noFill/>
        </p:spPr>
        <p:txBody>
          <a:bodyPr wrap="square">
            <a:spAutoFit/>
          </a:bodyPr>
          <a:lstStyle/>
          <a:p>
            <a:pPr>
              <a:defRPr sz="1300" b="1">
                <a:solidFill>
                  <a:srgbClr val="1E293B"/>
                </a:solidFill>
              </a:defRPr>
            </a:pPr>
            <a:r>
              <a:t>Four-Part Structured Defense</a:t>
            </a:r>
          </a:p>
        </p:txBody>
      </p:sp>
      <p:sp>
        <p:nvSpPr>
          <p:cNvPr id="9" name="TextBox 8"/>
          <p:cNvSpPr txBox="1"/>
          <p:nvPr/>
        </p:nvSpPr>
        <p:spPr>
          <a:xfrm>
            <a:off x="1005840" y="1920240"/>
            <a:ext cx="10149840" cy="4206240"/>
          </a:xfrm>
          <a:prstGeom prst="rect">
            <a:avLst/>
          </a:prstGeom>
          <a:noFill/>
        </p:spPr>
        <p:txBody>
          <a:bodyPr wrap="square">
            <a:spAutoFit/>
          </a:bodyPr>
          <a:lstStyle/>
          <a:p>
            <a:pPr>
              <a:defRPr b="1" sz="1300">
                <a:solidFill>
                  <a:srgbClr val="0D9488"/>
                </a:solidFill>
              </a:defRPr>
            </a:pPr>
            <a:r>
              <a:t>Part I: System Motivation, Hardware Architecture &amp; Testbed (Slides 3–6)</a:t>
            </a:r>
          </a:p>
          <a:p>
            <a:pPr>
              <a:defRPr sz="1150">
                <a:solidFill>
                  <a:srgbClr val="0F172A"/>
                </a:solidFill>
              </a:defRPr>
            </a:pPr>
            <a:r>
              <a:t>Speaker 1 (Mehar Adil): Problem statement, ethical privacy, COTS dual ESP32-S3 testbed, firmware sync.</a:t>
            </a:r>
          </a:p>
          <a:p/>
          <a:p>
            <a:pPr>
              <a:defRPr b="1" sz="1300">
                <a:solidFill>
                  <a:srgbClr val="0D9488"/>
                </a:solidFill>
              </a:defRPr>
            </a:pPr>
            <a:r>
              <a:t>Part II: Dataset Audit, Digital Signal Processing &amp; Feature Engineering (Slides 7–12)</a:t>
            </a:r>
          </a:p>
          <a:p>
            <a:pPr>
              <a:defRPr sz="1150">
                <a:solidFill>
                  <a:srgbClr val="0F172A"/>
                </a:solidFill>
              </a:defRPr>
            </a:pPr>
            <a:r>
              <a:t>Speaker 2 (Mohith Gowda M): 202-take audit, subcarrier layout, anti-aliasing FIR, phase unwrapping, position confound.</a:t>
            </a:r>
          </a:p>
          <a:p/>
          <a:p>
            <a:pPr>
              <a:defRPr b="1" sz="1300">
                <a:solidFill>
                  <a:srgbClr val="0D9488"/>
                </a:solidFill>
              </a:defRPr>
            </a:pPr>
            <a:r>
              <a:t>Part III: Modeling Benchmarks, SE-TCN Deep Champion &amp; Dual Metrics (Slides 13–18)</a:t>
            </a:r>
          </a:p>
          <a:p>
            <a:pPr>
              <a:defRPr sz="1150">
                <a:solidFill>
                  <a:srgbClr val="0F172A"/>
                </a:solidFill>
              </a:defRPr>
            </a:pPr>
            <a:r>
              <a:t>Speaker 3 (Manoj K C): Classical ML baselines vs. SE-TCN Champion, Subcarrier Attention, Focal Loss, Accuracy + Macro-F1.</a:t>
            </a:r>
          </a:p>
          <a:p/>
          <a:p>
            <a:pPr>
              <a:defRPr b="1" sz="1300">
                <a:solidFill>
                  <a:srgbClr val="0D9488"/>
                </a:solidFill>
              </a:defRPr>
            </a:pPr>
            <a:r>
              <a:t>Part IV: Fall Alarm Engine, Live Deployment, Limitations &amp; Viva Voce (Slides 19–26)</a:t>
            </a:r>
          </a:p>
          <a:p>
            <a:pPr>
              <a:defRPr sz="1150">
                <a:solidFill>
                  <a:srgbClr val="0F172A"/>
                </a:solidFill>
              </a:defRPr>
            </a:pPr>
            <a:r>
              <a:t>Speaker 4 (Nikhil M): Continuous stream alarm chain, 14-min live library trial, RF limits, viva defense.</a:t>
            </a:r>
          </a:p>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PROBLEM STATEMENT</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The Fall Hazard &amp; Device-Free Sensing Imperative</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Speaker 1</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53312"/>
            <a:ext cx="4846320" cy="365760"/>
          </a:xfrm>
          <a:prstGeom prst="rect">
            <a:avLst/>
          </a:prstGeom>
          <a:noFill/>
        </p:spPr>
        <p:txBody>
          <a:bodyPr wrap="square">
            <a:spAutoFit/>
          </a:bodyPr>
          <a:lstStyle/>
          <a:p>
            <a:pPr>
              <a:defRPr sz="1300" b="1">
                <a:solidFill>
                  <a:srgbClr val="1E293B"/>
                </a:solidFill>
              </a:defRPr>
            </a:pPr>
            <a:r>
              <a:t>The Geriatric Healthcare Challenge</a:t>
            </a:r>
          </a:p>
        </p:txBody>
      </p:sp>
      <p:sp>
        <p:nvSpPr>
          <p:cNvPr id="9" name="TextBox 8"/>
          <p:cNvSpPr txBox="1"/>
          <p:nvPr/>
        </p:nvSpPr>
        <p:spPr>
          <a:xfrm>
            <a:off x="914400" y="1828800"/>
            <a:ext cx="4846320" cy="4297680"/>
          </a:xfrm>
          <a:prstGeom prst="rect">
            <a:avLst/>
          </a:prstGeom>
          <a:noFill/>
        </p:spPr>
        <p:txBody>
          <a:bodyPr wrap="square">
            <a:spAutoFit/>
          </a:bodyPr>
          <a:lstStyle/>
          <a:p>
            <a:pPr>
              <a:defRPr b="1" sz="1200">
                <a:solidFill>
                  <a:srgbClr val="1E293B"/>
                </a:solidFill>
              </a:defRPr>
            </a:pPr>
            <a:r>
              <a:t>Why Existing Solutions Fail</a:t>
            </a:r>
          </a:p>
          <a:p>
            <a:pPr>
              <a:defRPr sz="1050">
                <a:solidFill>
                  <a:srgbClr val="0F172A"/>
                </a:solidFill>
              </a:defRPr>
            </a:pPr>
            <a:r>
              <a:t>• Fall Vulnerability: Falls are the #1 cause of fatal and non-fatal injuries in elderly populations worldwide.</a:t>
            </a:r>
          </a:p>
          <a:p>
            <a:pPr>
              <a:defRPr sz="1050">
                <a:solidFill>
                  <a:srgbClr val="0F172A"/>
                </a:solidFill>
              </a:defRPr>
            </a:pPr>
            <a:r>
              <a:t>• The 'Long Lie' Hazard: Remaining incapacitated on the floor for &gt; 1 hour post-fall drastically increases mortality by 50%.</a:t>
            </a:r>
          </a:p>
          <a:p>
            <a:pPr>
              <a:defRPr sz="1050">
                <a:solidFill>
                  <a:srgbClr val="0F172A"/>
                </a:solidFill>
              </a:defRPr>
            </a:pPr>
            <a:r>
              <a:t>• Wearable Non-Compliance: Panic pendants and smartwatches fail because seniors forget to wear them, leave them charging, or remove them during nighttime bathing—the highest risk period.</a:t>
            </a:r>
          </a:p>
          <a:p>
            <a:pPr>
              <a:defRPr sz="1050">
                <a:solidFill>
                  <a:srgbClr val="0F172A"/>
                </a:solidFill>
              </a:defRPr>
            </a:pPr>
            <a:r>
              <a:t>• Optical Cameras: Video cameras violate fundamental human dignity and privacy in private spaces (bathrooms, bedrooms) and fail in smoke, dust, or total darkness.</a:t>
            </a:r>
          </a:p>
          <a:p>
            <a:pPr>
              <a:defRPr sz="1050">
                <a:solidFill>
                  <a:srgbClr val="0F172A"/>
                </a:solidFill>
              </a:defRPr>
            </a:pPr>
            <a:r>
              <a:t>• Core Requirement: A 100% passive, zero-contact, device-free sensing system that works through walls and darkness.</a:t>
            </a:r>
          </a:p>
        </p:txBody>
      </p:sp>
      <p:sp>
        <p:nvSpPr>
          <p:cNvPr id="10" name="Rounded Rectangle 9"/>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353312"/>
            <a:ext cx="4846320" cy="365760"/>
          </a:xfrm>
          <a:prstGeom prst="rect">
            <a:avLst/>
          </a:prstGeom>
          <a:noFill/>
        </p:spPr>
        <p:txBody>
          <a:bodyPr wrap="square">
            <a:spAutoFit/>
          </a:bodyPr>
          <a:lstStyle/>
          <a:p>
            <a:pPr>
              <a:defRPr sz="1300" b="1">
                <a:solidFill>
                  <a:srgbClr val="1E293B"/>
                </a:solidFill>
              </a:defRPr>
            </a:pPr>
            <a:r>
              <a:t>The Ambient Wi-Fi Sensing Solution</a:t>
            </a:r>
          </a:p>
        </p:txBody>
      </p:sp>
      <p:sp>
        <p:nvSpPr>
          <p:cNvPr id="13" name="TextBox 12"/>
          <p:cNvSpPr txBox="1"/>
          <p:nvPr/>
        </p:nvSpPr>
        <p:spPr>
          <a:xfrm>
            <a:off x="6400800" y="1828800"/>
            <a:ext cx="4846320" cy="4297680"/>
          </a:xfrm>
          <a:prstGeom prst="rect">
            <a:avLst/>
          </a:prstGeom>
          <a:noFill/>
        </p:spPr>
        <p:txBody>
          <a:bodyPr wrap="square">
            <a:spAutoFit/>
          </a:bodyPr>
          <a:lstStyle/>
          <a:p>
            <a:pPr>
              <a:defRPr b="1" sz="1200">
                <a:solidFill>
                  <a:srgbClr val="0D9488"/>
                </a:solidFill>
              </a:defRPr>
            </a:pPr>
            <a:r>
              <a:t>Physical Operating Principle</a:t>
            </a:r>
          </a:p>
          <a:p>
            <a:pPr>
              <a:defRPr sz="1050">
                <a:solidFill>
                  <a:srgbClr val="0F172A"/>
                </a:solidFill>
              </a:defRPr>
            </a:pPr>
            <a:r>
              <a:t>• Ubiquitous RF Infrastructure: Wi-Fi signals already saturate modern homes and assisted-living facilities.</a:t>
            </a:r>
          </a:p>
          <a:p>
            <a:pPr>
              <a:defRPr sz="1050">
                <a:solidFill>
                  <a:srgbClr val="0F172A"/>
                </a:solidFill>
              </a:defRPr>
            </a:pPr>
            <a:r>
              <a:t>• Kinematic Distortions: A moving human body acts as a dynamic dielectric reflector, perturbing ambient radio waves.</a:t>
            </a:r>
          </a:p>
          <a:p>
            <a:pPr>
              <a:defRPr sz="1050">
                <a:solidFill>
                  <a:srgbClr val="0F172A"/>
                </a:solidFill>
              </a:defRPr>
            </a:pPr>
            <a:r>
              <a:t>• Through-Wall Capability: 2.4 GHz RF waves penetrate standard drywall, wood, and concrete partitions.</a:t>
            </a:r>
          </a:p>
          <a:p>
            <a:pPr>
              <a:defRPr sz="1050">
                <a:solidFill>
                  <a:srgbClr val="0F172A"/>
                </a:solidFill>
              </a:defRPr>
            </a:pPr>
            <a:r>
              <a:t>• Total Privacy Preservation: Wi-Fi packets capture microsecond Doppler shifts without capturing visual or facial imagery.</a:t>
            </a:r>
          </a:p>
          <a:p>
            <a:pPr>
              <a:defRPr sz="1050">
                <a:solidFill>
                  <a:srgbClr val="0F172A"/>
                </a:solidFill>
              </a:defRPr>
            </a:pPr>
            <a:r>
              <a:t>• Low-Cost COTS Hardware: Implemented entirely on commercial off-the-shelf ESP32-S3 microcontrollers (&lt; $15 total BOM).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THEORETICAL FOUNDATION</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Physics of Wi-Fi CSI: Channel Frequency Response vs RSSI</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Speaker 1</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53312"/>
            <a:ext cx="4846320" cy="365760"/>
          </a:xfrm>
          <a:prstGeom prst="rect">
            <a:avLst/>
          </a:prstGeom>
          <a:noFill/>
        </p:spPr>
        <p:txBody>
          <a:bodyPr wrap="square">
            <a:spAutoFit/>
          </a:bodyPr>
          <a:lstStyle/>
          <a:p>
            <a:pPr>
              <a:defRPr sz="1300" b="1">
                <a:solidFill>
                  <a:srgbClr val="1E293B"/>
                </a:solidFill>
              </a:defRPr>
            </a:pPr>
            <a:r>
              <a:t>RSSI: Coarse Macroscopic Metric</a:t>
            </a:r>
          </a:p>
        </p:txBody>
      </p:sp>
      <p:sp>
        <p:nvSpPr>
          <p:cNvPr id="9" name="TextBox 8"/>
          <p:cNvSpPr txBox="1"/>
          <p:nvPr/>
        </p:nvSpPr>
        <p:spPr>
          <a:xfrm>
            <a:off x="914400" y="1828800"/>
            <a:ext cx="4846320" cy="4297680"/>
          </a:xfrm>
          <a:prstGeom prst="rect">
            <a:avLst/>
          </a:prstGeom>
          <a:noFill/>
        </p:spPr>
        <p:txBody>
          <a:bodyPr wrap="square">
            <a:spAutoFit/>
          </a:bodyPr>
          <a:lstStyle/>
          <a:p>
            <a:pPr>
              <a:defRPr b="1" sz="1200">
                <a:solidFill>
                  <a:srgbClr val="1E293B"/>
                </a:solidFill>
              </a:defRPr>
            </a:pPr>
            <a:r>
              <a:t>Why RSSI is Insufficient for HAR</a:t>
            </a:r>
          </a:p>
          <a:p>
            <a:pPr>
              <a:defRPr sz="1050">
                <a:solidFill>
                  <a:srgbClr val="0F172A"/>
                </a:solidFill>
              </a:defRPr>
            </a:pPr>
            <a:r>
              <a:t>• Scalar Energy: RSSI provides only a single aggregate power measurement per packet.</a:t>
            </a:r>
          </a:p>
          <a:p>
            <a:pPr>
              <a:defRPr sz="1050">
                <a:solidFill>
                  <a:srgbClr val="0F172A"/>
                </a:solidFill>
              </a:defRPr>
            </a:pPr>
            <a:r>
              <a:t>• Severe Multipath Fading: Prone to constructive and destructive interference, making RSSI fluctuate randomly.</a:t>
            </a:r>
          </a:p>
          <a:p>
            <a:pPr>
              <a:defRPr sz="1050">
                <a:solidFill>
                  <a:srgbClr val="0F172A"/>
                </a:solidFill>
              </a:defRPr>
            </a:pPr>
            <a:r>
              <a:t>• Blind to Kinematics: Cannot distinguish between a person walking, falling, or standing still.</a:t>
            </a:r>
          </a:p>
          <a:p>
            <a:pPr>
              <a:defRPr sz="1050">
                <a:solidFill>
                  <a:srgbClr val="0F172A"/>
                </a:solidFill>
              </a:defRPr>
            </a:pPr>
            <a:r>
              <a:t>• Latency &amp; Coarseness: Too coarse-grained to isolate limb motion or posture changes.</a:t>
            </a:r>
          </a:p>
        </p:txBody>
      </p:sp>
      <p:sp>
        <p:nvSpPr>
          <p:cNvPr id="10" name="Rounded Rectangle 9"/>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353312"/>
            <a:ext cx="4846320" cy="365760"/>
          </a:xfrm>
          <a:prstGeom prst="rect">
            <a:avLst/>
          </a:prstGeom>
          <a:noFill/>
        </p:spPr>
        <p:txBody>
          <a:bodyPr wrap="square">
            <a:spAutoFit/>
          </a:bodyPr>
          <a:lstStyle/>
          <a:p>
            <a:pPr>
              <a:defRPr sz="1300" b="1">
                <a:solidFill>
                  <a:srgbClr val="1E293B"/>
                </a:solidFill>
              </a:defRPr>
            </a:pPr>
            <a:r>
              <a:t>CSI: Fine-Grained Channel Matrix</a:t>
            </a:r>
          </a:p>
        </p:txBody>
      </p:sp>
      <p:sp>
        <p:nvSpPr>
          <p:cNvPr id="13" name="TextBox 12"/>
          <p:cNvSpPr txBox="1"/>
          <p:nvPr/>
        </p:nvSpPr>
        <p:spPr>
          <a:xfrm>
            <a:off x="6400800" y="1828800"/>
            <a:ext cx="4846320" cy="4297680"/>
          </a:xfrm>
          <a:prstGeom prst="rect">
            <a:avLst/>
          </a:prstGeom>
          <a:noFill/>
        </p:spPr>
        <p:txBody>
          <a:bodyPr wrap="square">
            <a:spAutoFit/>
          </a:bodyPr>
          <a:lstStyle/>
          <a:p>
            <a:pPr>
              <a:defRPr b="1" sz="1200">
                <a:solidFill>
                  <a:srgbClr val="0D9488"/>
                </a:solidFill>
              </a:defRPr>
            </a:pPr>
            <a:r>
              <a:t>Complex Phasor per Subcarrier</a:t>
            </a:r>
          </a:p>
          <a:p>
            <a:pPr>
              <a:defRPr sz="1050">
                <a:solidFill>
                  <a:srgbClr val="0F172A"/>
                </a:solidFill>
              </a:defRPr>
            </a:pPr>
            <a:r>
              <a:t>• OFDM Channel Frequency Response (CFR): Wi-Fi 802.11n decomposes a 40 MHz channel into multiple orthogonal subcarriers.</a:t>
            </a:r>
          </a:p>
          <a:p>
            <a:pPr>
              <a:defRPr sz="1050">
                <a:solidFill>
                  <a:srgbClr val="0F172A"/>
                </a:solidFill>
              </a:defRPr>
            </a:pPr>
            <a:r>
              <a:t>• Mathematical Formulation: Y(f, t) = H(f, t) · X(f, t) + N(f, t)</a:t>
            </a:r>
          </a:p>
          <a:p>
            <a:pPr>
              <a:defRPr sz="1050">
                <a:solidFill>
                  <a:srgbClr val="0F172A"/>
                </a:solidFill>
              </a:defRPr>
            </a:pPr>
            <a:r>
              <a:t>• Complex Phasor Representation: H(k, t) = |H(k, t)| · exp(j · ∠H(k, t))</a:t>
            </a:r>
          </a:p>
          <a:p>
            <a:pPr>
              <a:defRPr sz="1050">
                <a:solidFill>
                  <a:srgbClr val="0F172A"/>
                </a:solidFill>
              </a:defRPr>
            </a:pPr>
            <a:r>
              <a:t>• Subcarrier Diversity: Measures individual amplitude attenuation and phase shift across 114 active subcarriers.</a:t>
            </a:r>
          </a:p>
          <a:p>
            <a:pPr>
              <a:defRPr sz="1050">
                <a:solidFill>
                  <a:srgbClr val="0F172A"/>
                </a:solidFill>
              </a:defRPr>
            </a:pPr>
            <a:r>
              <a:t>• Micro-Doppler Extraction: Subcarrier phase shifts capture chest displacements as small as a fraction of the RF wavelength (λ ≈ 12.5 cm at 2.4 GHz).</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HARDWARE ENGINEERING</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Hardware Architecture: Dual ESP32-S3 Receiver Testbed</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Speaker 1</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53312"/>
            <a:ext cx="4846320" cy="365760"/>
          </a:xfrm>
          <a:prstGeom prst="rect">
            <a:avLst/>
          </a:prstGeom>
          <a:noFill/>
        </p:spPr>
        <p:txBody>
          <a:bodyPr wrap="square">
            <a:spAutoFit/>
          </a:bodyPr>
          <a:lstStyle/>
          <a:p>
            <a:pPr>
              <a:defRPr sz="1300" b="1">
                <a:solidFill>
                  <a:srgbClr val="1E293B"/>
                </a:solidFill>
              </a:defRPr>
            </a:pPr>
            <a:r>
              <a:t>Node Roles &amp; Configuration</a:t>
            </a:r>
          </a:p>
        </p:txBody>
      </p:sp>
      <p:sp>
        <p:nvSpPr>
          <p:cNvPr id="9" name="TextBox 8"/>
          <p:cNvSpPr txBox="1"/>
          <p:nvPr/>
        </p:nvSpPr>
        <p:spPr>
          <a:xfrm>
            <a:off x="914400" y="1828800"/>
            <a:ext cx="4846320" cy="4297680"/>
          </a:xfrm>
          <a:prstGeom prst="rect">
            <a:avLst/>
          </a:prstGeom>
          <a:noFill/>
        </p:spPr>
        <p:txBody>
          <a:bodyPr wrap="square">
            <a:spAutoFit/>
          </a:bodyPr>
          <a:lstStyle/>
          <a:p>
            <a:pPr>
              <a:defRPr b="1" sz="1200">
                <a:solidFill>
                  <a:srgbClr val="1E293B"/>
                </a:solidFill>
              </a:defRPr>
            </a:pPr>
            <a:r>
              <a:t>Dual-Receiver Spatial Diversity</a:t>
            </a:r>
          </a:p>
          <a:p>
            <a:pPr>
              <a:defRPr sz="1050">
                <a:solidFill>
                  <a:srgbClr val="0F172A"/>
                </a:solidFill>
              </a:defRPr>
            </a:pPr>
            <a:r>
              <a:t>• Transmitter Node (TX): Single ESP32-S3-WROOM-1 generating regular 802.11n injection frames at 200 Hz.</a:t>
            </a:r>
          </a:p>
          <a:p>
            <a:pPr>
              <a:defRPr sz="1050">
                <a:solidFill>
                  <a:srgbClr val="0F172A"/>
                </a:solidFill>
              </a:defRPr>
            </a:pPr>
            <a:r>
              <a:t>• Receiver Node 1 (RX1): Dedicated ESP32-S3 placed on Primary Sensing Axis (Link 1).</a:t>
            </a:r>
          </a:p>
          <a:p>
            <a:pPr>
              <a:defRPr sz="1050">
                <a:solidFill>
                  <a:srgbClr val="0F172A"/>
                </a:solidFill>
              </a:defRPr>
            </a:pPr>
            <a:r>
              <a:t>• Receiver Node 2 (RX2): Dedicated ESP32-S3 placed on Orthogonal Secondary Axis (Link 2).</a:t>
            </a:r>
          </a:p>
          <a:p>
            <a:pPr>
              <a:defRPr sz="1050">
                <a:solidFill>
                  <a:srgbClr val="0F172A"/>
                </a:solidFill>
              </a:defRPr>
            </a:pPr>
            <a:r>
              <a:t>• Spatial Diversity Advantage: Resolves single-link blind spots where motion parallel to a single radio beam causes zero Doppler shift.</a:t>
            </a:r>
          </a:p>
          <a:p>
            <a:pPr>
              <a:defRPr sz="1050">
                <a:solidFill>
                  <a:srgbClr val="0F172A"/>
                </a:solidFill>
              </a:defRPr>
            </a:pPr>
            <a:r>
              <a:t>• Antenna Configuration: Dual omnidirectional dipole antennas mounted at 1.2 m chest height.</a:t>
            </a:r>
          </a:p>
        </p:txBody>
      </p:sp>
      <p:sp>
        <p:nvSpPr>
          <p:cNvPr id="10" name="Rounded Rectangle 9"/>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353312"/>
            <a:ext cx="4846320" cy="365760"/>
          </a:xfrm>
          <a:prstGeom prst="rect">
            <a:avLst/>
          </a:prstGeom>
          <a:noFill/>
        </p:spPr>
        <p:txBody>
          <a:bodyPr wrap="square">
            <a:spAutoFit/>
          </a:bodyPr>
          <a:lstStyle/>
          <a:p>
            <a:pPr>
              <a:defRPr sz="1300" b="1">
                <a:solidFill>
                  <a:srgbClr val="1E293B"/>
                </a:solidFill>
              </a:defRPr>
            </a:pPr>
            <a:r>
              <a:t>Firmware Implementation</a:t>
            </a:r>
          </a:p>
        </p:txBody>
      </p:sp>
      <p:sp>
        <p:nvSpPr>
          <p:cNvPr id="13" name="TextBox 12"/>
          <p:cNvSpPr txBox="1"/>
          <p:nvPr/>
        </p:nvSpPr>
        <p:spPr>
          <a:xfrm>
            <a:off x="6400800" y="1828800"/>
            <a:ext cx="4846320" cy="4297680"/>
          </a:xfrm>
          <a:prstGeom prst="rect">
            <a:avLst/>
          </a:prstGeom>
          <a:noFill/>
        </p:spPr>
        <p:txBody>
          <a:bodyPr wrap="square">
            <a:spAutoFit/>
          </a:bodyPr>
          <a:lstStyle/>
          <a:p>
            <a:pPr>
              <a:defRPr b="1" sz="1200">
                <a:solidFill>
                  <a:srgbClr val="0D9488"/>
                </a:solidFill>
              </a:defRPr>
            </a:pPr>
            <a:r>
              <a:t>ESP-IDF v5.1.2 Custom Firmware</a:t>
            </a:r>
          </a:p>
          <a:p>
            <a:pPr>
              <a:defRPr sz="1050">
                <a:solidFill>
                  <a:srgbClr val="0F172A"/>
                </a:solidFill>
              </a:defRPr>
            </a:pPr>
            <a:r>
              <a:t>• Promiscuous Wi-Fi Mode: Custom firmware written in C using ESP-IDF, bypassing traditional AP association.</a:t>
            </a:r>
          </a:p>
          <a:p>
            <a:pPr>
              <a:defRPr sz="1050">
                <a:solidFill>
                  <a:srgbClr val="0F172A"/>
                </a:solidFill>
              </a:defRPr>
            </a:pPr>
            <a:r>
              <a:t>• Packet Injection: TX broadcasts raw 802.11 Action frames with hardware sequence numbers.</a:t>
            </a:r>
          </a:p>
          <a:p>
            <a:pPr>
              <a:defRPr sz="1050">
                <a:solidFill>
                  <a:srgbClr val="0F172A"/>
                </a:solidFill>
              </a:defRPr>
            </a:pPr>
            <a:r>
              <a:t>• Hardware CSI Callback: RX nodes register esp_wifi_set_csi_rx_cb() to extract 114 HT-LTF subcarriers directly from RF baseband.</a:t>
            </a:r>
          </a:p>
          <a:p>
            <a:pPr>
              <a:defRPr sz="1050">
                <a:solidFill>
                  <a:srgbClr val="0F172A"/>
                </a:solidFill>
              </a:defRPr>
            </a:pPr>
            <a:r>
              <a:t>• Binary Streaming: High-speed UART streaming at 921,600 baud directly to the processing workstation.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HARDWARE ENGINEERING</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Packet Synchronization &amp; Hardware Sequence Matching</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Speaker 1</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53312"/>
            <a:ext cx="4846320" cy="365760"/>
          </a:xfrm>
          <a:prstGeom prst="rect">
            <a:avLst/>
          </a:prstGeom>
          <a:noFill/>
        </p:spPr>
        <p:txBody>
          <a:bodyPr wrap="square">
            <a:spAutoFit/>
          </a:bodyPr>
          <a:lstStyle/>
          <a:p>
            <a:pPr>
              <a:defRPr sz="1300" b="1">
                <a:solidFill>
                  <a:srgbClr val="1E293B"/>
                </a:solidFill>
              </a:defRPr>
            </a:pPr>
            <a:r>
              <a:t>The Multi-Node Alignment Challenge</a:t>
            </a:r>
          </a:p>
        </p:txBody>
      </p:sp>
      <p:sp>
        <p:nvSpPr>
          <p:cNvPr id="9" name="TextBox 8"/>
          <p:cNvSpPr txBox="1"/>
          <p:nvPr/>
        </p:nvSpPr>
        <p:spPr>
          <a:xfrm>
            <a:off x="914400" y="1828800"/>
            <a:ext cx="4846320" cy="4297680"/>
          </a:xfrm>
          <a:prstGeom prst="rect">
            <a:avLst/>
          </a:prstGeom>
          <a:noFill/>
        </p:spPr>
        <p:txBody>
          <a:bodyPr wrap="square">
            <a:spAutoFit/>
          </a:bodyPr>
          <a:lstStyle/>
          <a:p>
            <a:pPr>
              <a:defRPr b="1" sz="1200">
                <a:solidFill>
                  <a:srgbClr val="1E293B"/>
                </a:solidFill>
              </a:defRPr>
            </a:pPr>
            <a:r>
              <a:t>Asynchronous Receiver Clocks</a:t>
            </a:r>
          </a:p>
          <a:p>
            <a:pPr>
              <a:defRPr sz="1050">
                <a:solidFill>
                  <a:srgbClr val="0F172A"/>
                </a:solidFill>
              </a:defRPr>
            </a:pPr>
            <a:r>
              <a:t>• Clock Drift: RX1 and RX2 operate on separate crystal oscillators; local timestamps drift apart over time.</a:t>
            </a:r>
          </a:p>
          <a:p>
            <a:pPr>
              <a:defRPr sz="1050">
                <a:solidFill>
                  <a:srgbClr val="0F172A"/>
                </a:solidFill>
              </a:defRPr>
            </a:pPr>
            <a:r>
              <a:t>• Packet Drop Asymmetry: Receiver 1 might drop packet #1042 due to multipath while Receiver 2 receives it intact.</a:t>
            </a:r>
          </a:p>
          <a:p>
            <a:pPr>
              <a:defRPr sz="1050">
                <a:solidFill>
                  <a:srgbClr val="0F172A"/>
                </a:solidFill>
              </a:defRPr>
            </a:pPr>
            <a:r>
              <a:t>• Naive Timestamp Flaw: Merging RX1 and RX2 by workstation arrival time introduces fatal temporal desynchronization.</a:t>
            </a:r>
          </a:p>
        </p:txBody>
      </p:sp>
      <p:sp>
        <p:nvSpPr>
          <p:cNvPr id="10" name="Rounded Rectangle 9"/>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353312"/>
            <a:ext cx="4846320" cy="365760"/>
          </a:xfrm>
          <a:prstGeom prst="rect">
            <a:avLst/>
          </a:prstGeom>
          <a:noFill/>
        </p:spPr>
        <p:txBody>
          <a:bodyPr wrap="square">
            <a:spAutoFit/>
          </a:bodyPr>
          <a:lstStyle/>
          <a:p>
            <a:pPr>
              <a:defRPr sz="1300" b="1">
                <a:solidFill>
                  <a:srgbClr val="1E293B"/>
                </a:solidFill>
              </a:defRPr>
            </a:pPr>
            <a:r>
              <a:t>Hardware Sequence Number Synchronization</a:t>
            </a:r>
          </a:p>
        </p:txBody>
      </p:sp>
      <p:sp>
        <p:nvSpPr>
          <p:cNvPr id="13" name="TextBox 12"/>
          <p:cNvSpPr txBox="1"/>
          <p:nvPr/>
        </p:nvSpPr>
        <p:spPr>
          <a:xfrm>
            <a:off x="6400800" y="1828800"/>
            <a:ext cx="4846320" cy="4297680"/>
          </a:xfrm>
          <a:prstGeom prst="rect">
            <a:avLst/>
          </a:prstGeom>
          <a:noFill/>
        </p:spPr>
        <p:txBody>
          <a:bodyPr wrap="square">
            <a:spAutoFit/>
          </a:bodyPr>
          <a:lstStyle/>
          <a:p>
            <a:pPr>
              <a:defRPr b="1" sz="1200">
                <a:solidFill>
                  <a:srgbClr val="0D9488"/>
                </a:solidFill>
              </a:defRPr>
            </a:pPr>
            <a:r>
              <a:t>Phase 1 Engineering Solution</a:t>
            </a:r>
          </a:p>
          <a:p>
            <a:pPr>
              <a:defRPr sz="1050">
                <a:solidFill>
                  <a:srgbClr val="0F172A"/>
                </a:solidFill>
              </a:defRPr>
            </a:pPr>
            <a:r>
              <a:t>• Firmware Counter: The TX injects a monotonically increasing 32-bit sequence counter into the frame payload.</a:t>
            </a:r>
          </a:p>
          <a:p>
            <a:pPr>
              <a:defRPr sz="1050">
                <a:solidFill>
                  <a:srgbClr val="0F172A"/>
                </a:solidFill>
              </a:defRPr>
            </a:pPr>
            <a:r>
              <a:t>• Exact Packet Pairing: Ingest software pairs RX1 and RX2 frames strictly by TX sequence number:</a:t>
            </a:r>
          </a:p>
          <a:p>
            <a:pPr>
              <a:defRPr sz="1050">
                <a:solidFill>
                  <a:srgbClr val="0F172A"/>
                </a:solidFill>
              </a:defRPr>
            </a:pPr>
            <a:r>
              <a:t>• Frame_k = (CSI_RX1[seq == k], CSI_RX2[seq == k])</a:t>
            </a:r>
          </a:p>
          <a:p>
            <a:pPr>
              <a:defRPr sz="1050">
                <a:solidFill>
                  <a:srgbClr val="0F172A"/>
                </a:solidFill>
              </a:defRPr>
            </a:pPr>
            <a:r>
              <a:t>• Phasor Interpolation: Dropped packets are linearly interpolated in the complex phasor domain if gap &lt; 100 ms.</a:t>
            </a:r>
          </a:p>
          <a:p>
            <a:pPr>
              <a:defRPr sz="1050">
                <a:solidFill>
                  <a:srgbClr val="0F172A"/>
                </a:solidFill>
              </a:defRPr>
            </a:pPr>
            <a:r>
              <a:t>• Temporal Coherence: Guarantees microsecond-accurate cross-link correlation across both receiver paths.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DATASET &amp; AUDIT</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The Curated Dataset &amp; Phase 0 Audit: 202 Takes Across 6 Folds</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Speaker 2</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53312"/>
            <a:ext cx="4846320" cy="365760"/>
          </a:xfrm>
          <a:prstGeom prst="rect">
            <a:avLst/>
          </a:prstGeom>
          <a:noFill/>
        </p:spPr>
        <p:txBody>
          <a:bodyPr wrap="square">
            <a:spAutoFit/>
          </a:bodyPr>
          <a:lstStyle/>
          <a:p>
            <a:pPr>
              <a:defRPr sz="1300" b="1">
                <a:solidFill>
                  <a:srgbClr val="1E293B"/>
                </a:solidFill>
              </a:defRPr>
            </a:pPr>
            <a:r>
              <a:t>Final Dataset Composition</a:t>
            </a:r>
          </a:p>
        </p:txBody>
      </p:sp>
      <p:sp>
        <p:nvSpPr>
          <p:cNvPr id="9" name="TextBox 8"/>
          <p:cNvSpPr txBox="1"/>
          <p:nvPr/>
        </p:nvSpPr>
        <p:spPr>
          <a:xfrm>
            <a:off x="914400" y="1828800"/>
            <a:ext cx="4846320" cy="4297680"/>
          </a:xfrm>
          <a:prstGeom prst="rect">
            <a:avLst/>
          </a:prstGeom>
          <a:noFill/>
        </p:spPr>
        <p:txBody>
          <a:bodyPr wrap="square">
            <a:spAutoFit/>
          </a:bodyPr>
          <a:lstStyle/>
          <a:p>
            <a:pPr>
              <a:defRPr b="1" sz="1200">
                <a:solidFill>
                  <a:srgbClr val="1E293B"/>
                </a:solidFill>
              </a:defRPr>
            </a:pPr>
            <a:r>
              <a:t>202 Recorded Takes (801 Files Total)</a:t>
            </a:r>
          </a:p>
          <a:p>
            <a:pPr>
              <a:defRPr sz="1050">
                <a:solidFill>
                  <a:srgbClr val="0F172A"/>
                </a:solidFill>
              </a:defRPr>
            </a:pPr>
            <a:r>
              <a:t>• Cohort: 6 healthy adult volunteers (S1 to S6) + unoccupied room takes (none).</a:t>
            </a:r>
          </a:p>
          <a:p>
            <a:pPr>
              <a:defRPr sz="1050">
                <a:solidFill>
                  <a:srgbClr val="0F172A"/>
                </a:solidFill>
              </a:defRPr>
            </a:pPr>
            <a:r>
              <a:t>• Morning Session (S1–S4): 125 takes (118 subject takes + 4 baseline empty takes).</a:t>
            </a:r>
          </a:p>
          <a:p>
            <a:pPr>
              <a:defRPr sz="1050">
                <a:solidFill>
                  <a:srgbClr val="0F172A"/>
                </a:solidFill>
              </a:defRPr>
            </a:pPr>
            <a:r>
              <a:t>• Afternoon Session (S5–S6): 77 takes recorded after an intentional transmitter realignment.</a:t>
            </a:r>
          </a:p>
          <a:p>
            <a:pPr>
              <a:defRPr sz="1050">
                <a:solidFill>
                  <a:srgbClr val="0F172A"/>
                </a:solidFill>
              </a:defRPr>
            </a:pPr>
            <a:r>
              <a:t>• Activity Breakdown: 42 falls, 43 sit-downs, 46 stand-ups, 20 bend-and-picks, 16 walks, 11 stands, 11 sits, 6 lies, 7 empty.</a:t>
            </a:r>
          </a:p>
          <a:p>
            <a:pPr>
              <a:defRPr sz="1050">
                <a:solidFill>
                  <a:srgbClr val="0F172A"/>
                </a:solidFill>
              </a:defRPr>
            </a:pPr>
            <a:r>
              <a:t>• Format 2 Windows: Exactly 2401 windows of 4 s extracted (hop 0.5 s, 20% quality gate).</a:t>
            </a:r>
          </a:p>
        </p:txBody>
      </p:sp>
      <p:sp>
        <p:nvSpPr>
          <p:cNvPr id="10" name="Rounded Rectangle 9"/>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353312"/>
            <a:ext cx="4846320" cy="365760"/>
          </a:xfrm>
          <a:prstGeom prst="rect">
            <a:avLst/>
          </a:prstGeom>
          <a:noFill/>
        </p:spPr>
        <p:txBody>
          <a:bodyPr wrap="square">
            <a:spAutoFit/>
          </a:bodyPr>
          <a:lstStyle/>
          <a:p>
            <a:pPr>
              <a:defRPr sz="1300" b="1">
                <a:solidFill>
                  <a:srgbClr val="1E293B"/>
                </a:solidFill>
              </a:defRPr>
            </a:pPr>
            <a:r>
              <a:t>Session Effect &amp; Audit Findings</a:t>
            </a:r>
          </a:p>
        </p:txBody>
      </p:sp>
      <p:sp>
        <p:nvSpPr>
          <p:cNvPr id="13" name="TextBox 12"/>
          <p:cNvSpPr txBox="1"/>
          <p:nvPr/>
        </p:nvSpPr>
        <p:spPr>
          <a:xfrm>
            <a:off x="6400800" y="1828800"/>
            <a:ext cx="4846320" cy="4297680"/>
          </a:xfrm>
          <a:prstGeom prst="rect">
            <a:avLst/>
          </a:prstGeom>
          <a:noFill/>
        </p:spPr>
        <p:txBody>
          <a:bodyPr wrap="square">
            <a:spAutoFit/>
          </a:bodyPr>
          <a:lstStyle/>
          <a:p>
            <a:pPr>
              <a:defRPr b="1" sz="1200">
                <a:solidFill>
                  <a:srgbClr val="0D9488"/>
                </a:solidFill>
              </a:defRPr>
            </a:pPr>
            <a:r>
              <a:t>Phase 0 Read-Only Audit (docs/AUDIT.md)</a:t>
            </a:r>
          </a:p>
          <a:p>
            <a:pPr>
              <a:defRPr sz="1050">
                <a:solidFill>
                  <a:srgbClr val="0F172A"/>
                </a:solidFill>
              </a:defRPr>
            </a:pPr>
            <a:r>
              <a:t>• Audit Immutability: Scripts read data/raw as read-only; 801 files verified by SHA-256 manifest.</a:t>
            </a:r>
          </a:p>
          <a:p>
            <a:pPr>
              <a:defRPr sz="1050">
                <a:solidFill>
                  <a:srgbClr val="0F172A"/>
                </a:solidFill>
              </a:defRPr>
            </a:pPr>
            <a:r>
              <a:t>• Take Overrides (D-018): S1_T29_walk was marked invalid due to operator abort; decoded data was intact and overridden via config/take_overrides.csv without editing raw meta.json.</a:t>
            </a:r>
          </a:p>
          <a:p>
            <a:pPr>
              <a:defRPr sz="1050">
                <a:solidFill>
                  <a:srgbClr val="0F172A"/>
                </a:solidFill>
              </a:defRPr>
            </a:pPr>
            <a:r>
              <a:t>• Session Drift (D-033): S5/S6 show no RSSI drift (≤ 1.0 dB shift), but static channel shape shifted 3.4–4.4 dB RMS between morning and afternoon sessions due to TX re-aim.</a:t>
            </a:r>
          </a:p>
          <a:p>
            <a:pPr>
              <a:defRPr sz="1050">
                <a:solidFill>
                  <a:srgbClr val="0F172A"/>
                </a:solidFill>
              </a:defRPr>
            </a:pPr>
            <a:r>
              <a:t>• Evaluation Impact: S5 and S6 represent true cross-session test folds.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DIGITAL SIGNAL PROCESSING</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DSP Pipeline: Subcarrier Layout, Sequence Alignment &amp; Gap-Fill</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Speaker 2</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53312"/>
            <a:ext cx="4846320" cy="365760"/>
          </a:xfrm>
          <a:prstGeom prst="rect">
            <a:avLst/>
          </a:prstGeom>
          <a:noFill/>
        </p:spPr>
        <p:txBody>
          <a:bodyPr wrap="square">
            <a:spAutoFit/>
          </a:bodyPr>
          <a:lstStyle/>
          <a:p>
            <a:pPr>
              <a:defRPr sz="1300" b="1">
                <a:solidFill>
                  <a:srgbClr val="1E293B"/>
                </a:solidFill>
              </a:defRPr>
            </a:pPr>
            <a:r>
              <a:t>Active HT-LTF Subcarriers</a:t>
            </a:r>
          </a:p>
        </p:txBody>
      </p:sp>
      <p:sp>
        <p:nvSpPr>
          <p:cNvPr id="9" name="TextBox 8"/>
          <p:cNvSpPr txBox="1"/>
          <p:nvPr/>
        </p:nvSpPr>
        <p:spPr>
          <a:xfrm>
            <a:off x="914400" y="1828800"/>
            <a:ext cx="4846320" cy="4297680"/>
          </a:xfrm>
          <a:prstGeom prst="rect">
            <a:avLst/>
          </a:prstGeom>
          <a:noFill/>
        </p:spPr>
        <p:txBody>
          <a:bodyPr wrap="square">
            <a:spAutoFit/>
          </a:bodyPr>
          <a:lstStyle/>
          <a:p>
            <a:pPr>
              <a:defRPr b="1" sz="1200">
                <a:solidFill>
                  <a:srgbClr val="1E293B"/>
                </a:solidFill>
              </a:defRPr>
            </a:pPr>
            <a:r>
              <a:t>114 Used Subcarriers Verified</a:t>
            </a:r>
          </a:p>
          <a:p>
            <a:pPr>
              <a:defRPr sz="1050">
                <a:solidFill>
                  <a:srgbClr val="0F172A"/>
                </a:solidFill>
              </a:defRPr>
            </a:pPr>
            <a:r>
              <a:t>• 802.11n 40 MHz Channel Layout: 128 total subcarrier bins in FFT.</a:t>
            </a:r>
          </a:p>
          <a:p>
            <a:pPr>
              <a:defRPr sz="1050">
                <a:solidFill>
                  <a:srgbClr val="0F172A"/>
                </a:solidFill>
              </a:defRPr>
            </a:pPr>
            <a:r>
              <a:t>• Active Energy Carriers: Verified empirically across 396 receiver takes:</a:t>
            </a:r>
          </a:p>
          <a:p>
            <a:pPr>
              <a:defRPr sz="1050">
                <a:solidFill>
                  <a:srgbClr val="0F172A"/>
                </a:solidFill>
              </a:defRPr>
            </a:pPr>
            <a:r>
              <a:t>• k in [-58, -2] and [+2, +58]  ==&gt;  Exactly 114 active subcarriers.</a:t>
            </a:r>
          </a:p>
          <a:p>
            <a:pPr>
              <a:defRPr sz="1050">
                <a:solidFill>
                  <a:srgbClr val="0F172A"/>
                </a:solidFill>
              </a:defRPr>
            </a:pPr>
            <a:r>
              <a:t>• Null Subcarriers: DC carrier (bin 0, ±1) and guard bands ([-64..-59] and [+59..+63]) carry zero signal.</a:t>
            </a:r>
          </a:p>
          <a:p>
            <a:pPr>
              <a:defRPr sz="1050">
                <a:solidFill>
                  <a:srgbClr val="0F172A"/>
                </a:solidFill>
              </a:defRPr>
            </a:pPr>
            <a:r>
              <a:t>• L-LTF Bins: Evaluated in Phase 2; confirmed to occupy upper 20 MHz only. Dropped to focus on 114 HT-LTF.</a:t>
            </a:r>
          </a:p>
        </p:txBody>
      </p:sp>
      <p:sp>
        <p:nvSpPr>
          <p:cNvPr id="10" name="Rounded Rectangle 9"/>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353312"/>
            <a:ext cx="4846320" cy="365760"/>
          </a:xfrm>
          <a:prstGeom prst="rect">
            <a:avLst/>
          </a:prstGeom>
          <a:noFill/>
        </p:spPr>
        <p:txBody>
          <a:bodyPr wrap="square">
            <a:spAutoFit/>
          </a:bodyPr>
          <a:lstStyle/>
          <a:p>
            <a:pPr>
              <a:defRPr sz="1300" b="1">
                <a:solidFill>
                  <a:srgbClr val="1E293B"/>
                </a:solidFill>
              </a:defRPr>
            </a:pPr>
            <a:r>
              <a:t>Packet Synchronization &amp; Linear Gap-Fill</a:t>
            </a:r>
          </a:p>
        </p:txBody>
      </p:sp>
      <p:sp>
        <p:nvSpPr>
          <p:cNvPr id="13" name="TextBox 12"/>
          <p:cNvSpPr txBox="1"/>
          <p:nvPr/>
        </p:nvSpPr>
        <p:spPr>
          <a:xfrm>
            <a:off x="6400800" y="1828800"/>
            <a:ext cx="4846320" cy="4297680"/>
          </a:xfrm>
          <a:prstGeom prst="rect">
            <a:avLst/>
          </a:prstGeom>
          <a:noFill/>
        </p:spPr>
        <p:txBody>
          <a:bodyPr wrap="square">
            <a:spAutoFit/>
          </a:bodyPr>
          <a:lstStyle/>
          <a:p>
            <a:pPr>
              <a:defRPr b="1" sz="1200">
                <a:solidFill>
                  <a:srgbClr val="0D9488"/>
                </a:solidFill>
              </a:defRPr>
            </a:pPr>
            <a:r>
              <a:t>Phasor-Domain Interpolation</a:t>
            </a:r>
          </a:p>
          <a:p>
            <a:pPr>
              <a:defRPr sz="1050">
                <a:solidFill>
                  <a:srgbClr val="0F172A"/>
                </a:solidFill>
              </a:defRPr>
            </a:pPr>
            <a:r>
              <a:t>• Sequence Alignment: RX1 and RX2 streams are aligned by the TX sequence number embedded in firmware.</a:t>
            </a:r>
          </a:p>
          <a:p>
            <a:pPr>
              <a:defRPr sz="1050">
                <a:solidFill>
                  <a:srgbClr val="0F172A"/>
                </a:solidFill>
              </a:defRPr>
            </a:pPr>
            <a:r>
              <a:t>• Linear Gap-Fill: Missing packets within acceptable burst limits are reconstructed via linear interpolation across the complex phasor domain.</a:t>
            </a:r>
          </a:p>
          <a:p>
            <a:pPr>
              <a:defRPr sz="1050">
                <a:solidFill>
                  <a:srgbClr val="0F172A"/>
                </a:solidFill>
              </a:defRPr>
            </a:pPr>
            <a:r>
              <a:t>• Quality Gate (D-039): A window is rejected if either receiver suffers &gt; 20% missing packets or any single gap exceeds 100 ms (20 packets).</a:t>
            </a:r>
          </a:p>
          <a:p>
            <a:pPr>
              <a:defRPr sz="1050">
                <a:solidFill>
                  <a:srgbClr val="0F172A"/>
                </a:solidFill>
              </a:defRPr>
            </a:pPr>
            <a:r>
              <a:t>• Diagnostic Impact: Relaxing initial strict 10% gate to 20% reduced window drops from 27.8% down to 3.9%, recovering 67% of S1's otherwise lost data without distorting DSP.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DIGITAL SIGNAL PROCESSING</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DSP Pipeline: FIR Anti-Aliasing, Decimation &amp; Gain Steps</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Speaker 2</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53312"/>
            <a:ext cx="4846320" cy="365760"/>
          </a:xfrm>
          <a:prstGeom prst="rect">
            <a:avLst/>
          </a:prstGeom>
          <a:noFill/>
        </p:spPr>
        <p:txBody>
          <a:bodyPr wrap="square">
            <a:spAutoFit/>
          </a:bodyPr>
          <a:lstStyle/>
          <a:p>
            <a:pPr>
              <a:defRPr sz="1300" b="1">
                <a:solidFill>
                  <a:srgbClr val="1E293B"/>
                </a:solidFill>
              </a:defRPr>
            </a:pPr>
            <a:r>
              <a:t>Anti-Aliasing FIR Decimation</a:t>
            </a:r>
          </a:p>
        </p:txBody>
      </p:sp>
      <p:sp>
        <p:nvSpPr>
          <p:cNvPr id="9" name="TextBox 8"/>
          <p:cNvSpPr txBox="1"/>
          <p:nvPr/>
        </p:nvSpPr>
        <p:spPr>
          <a:xfrm>
            <a:off x="914400" y="1828800"/>
            <a:ext cx="4846320" cy="4297680"/>
          </a:xfrm>
          <a:prstGeom prst="rect">
            <a:avLst/>
          </a:prstGeom>
          <a:noFill/>
        </p:spPr>
        <p:txBody>
          <a:bodyPr wrap="square">
            <a:spAutoFit/>
          </a:bodyPr>
          <a:lstStyle/>
          <a:p>
            <a:pPr>
              <a:defRPr b="1" sz="1200">
                <a:solidFill>
                  <a:srgbClr val="1E293B"/>
                </a:solidFill>
              </a:defRPr>
            </a:pPr>
            <a:r>
              <a:t>Suppressing High-Frequency Out-Of-Band Noise</a:t>
            </a:r>
          </a:p>
          <a:p>
            <a:pPr>
              <a:defRPr sz="1050">
                <a:solidFill>
                  <a:srgbClr val="0F172A"/>
                </a:solidFill>
              </a:defRPr>
            </a:pPr>
            <a:r>
              <a:t>• Human Kinetic Limits: Normal human body motion generates Doppler shifts bounded below 30–40 Hz (v ≈ 2 m/s, f_D ≈ 32.8 Hz).</a:t>
            </a:r>
          </a:p>
          <a:p>
            <a:pPr>
              <a:defRPr sz="1050">
                <a:solidFill>
                  <a:srgbClr val="0F172A"/>
                </a:solidFill>
              </a:defRPr>
            </a:pPr>
            <a:r>
              <a:t>• Anti-Alias FIR Filter: 27-tap linear-phase Equiripple low-pass filter (passband 0–35 Hz, -45 dB stopband attenuation at 50 Hz).</a:t>
            </a:r>
          </a:p>
          <a:p>
            <a:pPr>
              <a:defRPr sz="1050">
                <a:solidFill>
                  <a:srgbClr val="0F172A"/>
                </a:solidFill>
              </a:defRPr>
            </a:pPr>
            <a:r>
              <a:t>• Decimation: Downsampled from raw 200 Hz to 100 Hz, eliminating high-frequency serial noise and spectral folding.</a:t>
            </a:r>
          </a:p>
          <a:p>
            <a:pPr>
              <a:defRPr sz="1050">
                <a:solidFill>
                  <a:srgbClr val="0F172A"/>
                </a:solidFill>
              </a:defRPr>
            </a:pPr>
            <a:r>
              <a:t>• Phase Coherence: Linear-phase FIR design introduces constant group delay without phase distortion.</a:t>
            </a:r>
          </a:p>
        </p:txBody>
      </p:sp>
      <p:sp>
        <p:nvSpPr>
          <p:cNvPr id="10" name="Rounded Rectangle 9"/>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353312"/>
            <a:ext cx="4846320" cy="365760"/>
          </a:xfrm>
          <a:prstGeom prst="rect">
            <a:avLst/>
          </a:prstGeom>
          <a:noFill/>
        </p:spPr>
        <p:txBody>
          <a:bodyPr wrap="square">
            <a:spAutoFit/>
          </a:bodyPr>
          <a:lstStyle/>
          <a:p>
            <a:pPr>
              <a:defRPr sz="1300" b="1">
                <a:solidFill>
                  <a:srgbClr val="1E293B"/>
                </a:solidFill>
              </a:defRPr>
            </a:pPr>
            <a:r>
              <a:t>Resolving 6.1 dB Automatic CSI Gain Steps</a:t>
            </a:r>
          </a:p>
        </p:txBody>
      </p:sp>
      <p:sp>
        <p:nvSpPr>
          <p:cNvPr id="13" name="TextBox 12"/>
          <p:cNvSpPr txBox="1"/>
          <p:nvPr/>
        </p:nvSpPr>
        <p:spPr>
          <a:xfrm>
            <a:off x="6400800" y="1828800"/>
            <a:ext cx="4846320" cy="4297680"/>
          </a:xfrm>
          <a:prstGeom prst="rect">
            <a:avLst/>
          </a:prstGeom>
          <a:noFill/>
        </p:spPr>
        <p:txBody>
          <a:bodyPr wrap="square">
            <a:spAutoFit/>
          </a:bodyPr>
          <a:lstStyle/>
          <a:p>
            <a:pPr>
              <a:defRPr b="1" sz="1200">
                <a:solidFill>
                  <a:srgbClr val="0D9488"/>
                </a:solidFill>
              </a:defRPr>
            </a:pPr>
            <a:r>
              <a:t>Physics of ESP-IDF AGC Steps (D-035)</a:t>
            </a:r>
          </a:p>
          <a:p>
            <a:pPr>
              <a:defRPr sz="1050">
                <a:solidFill>
                  <a:srgbClr val="0F172A"/>
                </a:solidFill>
              </a:defRPr>
            </a:pPr>
            <a:r>
              <a:t>• The Symptom: CSI amplitude exhibited alternating 6.1 dB power drops uncorrelated with RSSI, heavily concentrated at Chair B.</a:t>
            </a:r>
          </a:p>
          <a:p>
            <a:pPr>
              <a:defRPr sz="1050">
                <a:solidFill>
                  <a:srgbClr val="0F172A"/>
                </a:solidFill>
              </a:defRPr>
            </a:pPr>
            <a:r>
              <a:t>• Root Cause: ESP32-S3 internal automatic CSI scaling (manu_scale = false) halving int8 digital resolution under high signal levels.</a:t>
            </a:r>
          </a:p>
          <a:p>
            <a:pPr>
              <a:defRPr sz="1050">
                <a:solidFill>
                  <a:srgbClr val="0F172A"/>
                </a:solidFill>
              </a:defRPr>
            </a:pPr>
            <a:r>
              <a:t>• The Fix: Per-packet gain normalization divides each subcarrier by the packet's mean amplitude:</a:t>
            </a:r>
          </a:p>
          <a:p>
            <a:pPr>
              <a:defRPr sz="1050">
                <a:solidFill>
                  <a:srgbClr val="0F172A"/>
                </a:solidFill>
              </a:defRPr>
            </a:pPr>
            <a:r>
              <a:t>• X_norm(k, t) = X_raw(k, t) / [ (1/114) * sum_i(X_raw(i, t)) ]</a:t>
            </a:r>
          </a:p>
          <a:p>
            <a:pPr>
              <a:defRPr sz="1050">
                <a:solidFill>
                  <a:srgbClr val="0F172A"/>
                </a:solidFill>
              </a:defRPr>
            </a:pPr>
            <a:r>
              <a:t>• Integrity Rule: Low-scale packet fraction is permanently banned as a feature (correlates with Chair B position).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DIGITAL SIGNAL PROCESSING</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DSP Pipeline: Subcarrier Phase Unwrapping &amp; Sanitization</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Speaker 2</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53312"/>
            <a:ext cx="4846320" cy="365760"/>
          </a:xfrm>
          <a:prstGeom prst="rect">
            <a:avLst/>
          </a:prstGeom>
          <a:noFill/>
        </p:spPr>
        <p:txBody>
          <a:bodyPr wrap="square">
            <a:spAutoFit/>
          </a:bodyPr>
          <a:lstStyle/>
          <a:p>
            <a:pPr>
              <a:defRPr sz="1300" b="1">
                <a:solidFill>
                  <a:srgbClr val="1E293B"/>
                </a:solidFill>
              </a:defRPr>
            </a:pPr>
            <a:r>
              <a:t>The Raw Phase Problem</a:t>
            </a:r>
          </a:p>
        </p:txBody>
      </p:sp>
      <p:sp>
        <p:nvSpPr>
          <p:cNvPr id="9" name="TextBox 8"/>
          <p:cNvSpPr txBox="1"/>
          <p:nvPr/>
        </p:nvSpPr>
        <p:spPr>
          <a:xfrm>
            <a:off x="914400" y="1828800"/>
            <a:ext cx="4846320" cy="4297680"/>
          </a:xfrm>
          <a:prstGeom prst="rect">
            <a:avLst/>
          </a:prstGeom>
          <a:noFill/>
        </p:spPr>
        <p:txBody>
          <a:bodyPr wrap="square">
            <a:spAutoFit/>
          </a:bodyPr>
          <a:lstStyle/>
          <a:p>
            <a:pPr>
              <a:defRPr b="1" sz="1200">
                <a:solidFill>
                  <a:srgbClr val="1E293B"/>
                </a:solidFill>
              </a:defRPr>
            </a:pPr>
            <a:r>
              <a:t>Carrier Frequency &amp; Packet Delay Noise</a:t>
            </a:r>
          </a:p>
          <a:p>
            <a:pPr>
              <a:defRPr sz="1050">
                <a:solidFill>
                  <a:srgbClr val="0F172A"/>
                </a:solidFill>
              </a:defRPr>
            </a:pPr>
            <a:r>
              <a:t>• Raw Phase Instability: Raw phase angles exhibit uniform random distribution across packets (circular std ≈ 2.82 rad).</a:t>
            </a:r>
          </a:p>
          <a:p>
            <a:pPr>
              <a:defRPr sz="1050">
                <a:solidFill>
                  <a:srgbClr val="0F172A"/>
                </a:solidFill>
              </a:defRPr>
            </a:pPr>
            <a:r>
              <a:t>• Sources of Corruption: Caused by Carrier Frequency Offset (CFO), Sampling Frequency Offset (SFO), and microsecond Packet Detection Delays (PDD).</a:t>
            </a:r>
          </a:p>
          <a:p>
            <a:pPr>
              <a:defRPr sz="1050">
                <a:solidFill>
                  <a:srgbClr val="0F172A"/>
                </a:solidFill>
              </a:defRPr>
            </a:pPr>
            <a:r>
              <a:t>• Equation of Corruption: θ_raw(k, t) = θ_true(k, t) - 2π · k · Δt / N + β + Z_noise.</a:t>
            </a:r>
          </a:p>
        </p:txBody>
      </p:sp>
      <p:sp>
        <p:nvSpPr>
          <p:cNvPr id="10" name="Rounded Rectangle 9"/>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353312"/>
            <a:ext cx="4846320" cy="365760"/>
          </a:xfrm>
          <a:prstGeom prst="rect">
            <a:avLst/>
          </a:prstGeom>
          <a:noFill/>
        </p:spPr>
        <p:txBody>
          <a:bodyPr wrap="square">
            <a:spAutoFit/>
          </a:bodyPr>
          <a:lstStyle/>
          <a:p>
            <a:pPr>
              <a:defRPr sz="1300" b="1">
                <a:solidFill>
                  <a:srgbClr val="1E293B"/>
                </a:solidFill>
              </a:defRPr>
            </a:pPr>
            <a:r>
              <a:t>Two-Stage Linear Sanitization (Decision D-036)</a:t>
            </a:r>
          </a:p>
        </p:txBody>
      </p:sp>
      <p:sp>
        <p:nvSpPr>
          <p:cNvPr id="13" name="TextBox 12"/>
          <p:cNvSpPr txBox="1"/>
          <p:nvPr/>
        </p:nvSpPr>
        <p:spPr>
          <a:xfrm>
            <a:off x="6400800" y="1828800"/>
            <a:ext cx="4846320" cy="4297680"/>
          </a:xfrm>
          <a:prstGeom prst="rect">
            <a:avLst/>
          </a:prstGeom>
          <a:noFill/>
        </p:spPr>
        <p:txBody>
          <a:bodyPr wrap="square">
            <a:spAutoFit/>
          </a:bodyPr>
          <a:lstStyle/>
          <a:p>
            <a:pPr>
              <a:defRPr b="1" sz="1200">
                <a:solidFill>
                  <a:srgbClr val="0D9488"/>
                </a:solidFill>
              </a:defRPr>
            </a:pPr>
            <a:r>
              <a:t>Subcarrier Unwrapping &amp; Detrending</a:t>
            </a:r>
          </a:p>
          <a:p>
            <a:pPr>
              <a:defRPr sz="1050">
                <a:solidFill>
                  <a:srgbClr val="0F172A"/>
                </a:solidFill>
              </a:defRPr>
            </a:pPr>
            <a:r>
              <a:t>• Stage 1: Frequency Unwrapping across subcarriers: θ_unwrap(k, t) = unwrap(θ_raw(k, t)).</a:t>
            </a:r>
          </a:p>
          <a:p>
            <a:pPr>
              <a:defRPr sz="1050">
                <a:solidFill>
                  <a:srgbClr val="0F172A"/>
                </a:solidFill>
              </a:defRPr>
            </a:pPr>
            <a:r>
              <a:t>• Stage 2: Least-Squares Linear Detrending to remove slope α_t and intercept β_t for each individual packet:</a:t>
            </a:r>
          </a:p>
          <a:p>
            <a:pPr>
              <a:defRPr sz="1050">
                <a:solidFill>
                  <a:srgbClr val="0F172A"/>
                </a:solidFill>
              </a:defRPr>
            </a:pPr>
            <a:r>
              <a:t>• θ_sanitized(k, t) = θ_unwrap(k, t) - (α_t · k + β_t)</a:t>
            </a:r>
          </a:p>
          <a:p>
            <a:pPr>
              <a:defRPr sz="1050">
                <a:solidFill>
                  <a:srgbClr val="0F172A"/>
                </a:solidFill>
              </a:defRPr>
            </a:pPr>
            <a:r>
              <a:t>• Quantitative Noise Reduction: Sanitized phase circular standard deviation collapses from 2.82 rad down to 0.13–0.16 rad!</a:t>
            </a:r>
          </a:p>
          <a:p>
            <a:pPr>
              <a:defRPr sz="1050">
                <a:solidFill>
                  <a:srgbClr val="0F172A"/>
                </a:solidFill>
              </a:defRPr>
            </a:pPr>
            <a:r>
              <a:t>• Physical Utility: Unveils path-length variations; dynamic phase features weighted by amplitude squared to neutralize 2π slips.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EXPERIMENTAL RIGOR</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The Spatial Leakage Trap: Discovering the Position Confound</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Speaker 2</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53312"/>
            <a:ext cx="4846320" cy="365760"/>
          </a:xfrm>
          <a:prstGeom prst="rect">
            <a:avLst/>
          </a:prstGeom>
          <a:noFill/>
        </p:spPr>
        <p:txBody>
          <a:bodyPr wrap="square">
            <a:spAutoFit/>
          </a:bodyPr>
          <a:lstStyle/>
          <a:p>
            <a:pPr>
              <a:defRPr sz="1300" b="1">
                <a:solidFill>
                  <a:srgbClr val="1E293B"/>
                </a:solidFill>
              </a:defRPr>
            </a:pPr>
            <a:r>
              <a:t>The Hidden Experimental Trap</a:t>
            </a:r>
          </a:p>
        </p:txBody>
      </p:sp>
      <p:sp>
        <p:nvSpPr>
          <p:cNvPr id="9" name="TextBox 8"/>
          <p:cNvSpPr txBox="1"/>
          <p:nvPr/>
        </p:nvSpPr>
        <p:spPr>
          <a:xfrm>
            <a:off x="914400" y="1828800"/>
            <a:ext cx="4846320" cy="4297680"/>
          </a:xfrm>
          <a:prstGeom prst="rect">
            <a:avLst/>
          </a:prstGeom>
          <a:noFill/>
        </p:spPr>
        <p:txBody>
          <a:bodyPr wrap="square">
            <a:spAutoFit/>
          </a:bodyPr>
          <a:lstStyle/>
          <a:p>
            <a:pPr>
              <a:defRPr b="1" sz="1200">
                <a:solidFill>
                  <a:srgbClr val="1E293B"/>
                </a:solidFill>
              </a:defRPr>
            </a:pPr>
            <a:r>
              <a:t>Why Standard ML Pipelines Cheat</a:t>
            </a:r>
          </a:p>
          <a:p>
            <a:pPr>
              <a:defRPr sz="1050">
                <a:solidFill>
                  <a:srgbClr val="0F172A"/>
                </a:solidFill>
              </a:defRPr>
            </a:pPr>
            <a:r>
              <a:t>• Spatial Confounding (D-024): In home monitoring, actions naturally correlate with furniture (falls on mattress, sitting at chairs, walking on paths).</a:t>
            </a:r>
          </a:p>
          <a:p>
            <a:pPr>
              <a:defRPr sz="1050">
                <a:solidFill>
                  <a:srgbClr val="0F172A"/>
                </a:solidFill>
              </a:defRPr>
            </a:pPr>
            <a:r>
              <a:t>• Body Shadowing Effect: Sitting at Chair A shadows RX1; sitting at Chair B shadows RX2.</a:t>
            </a:r>
          </a:p>
          <a:p>
            <a:pPr>
              <a:defRPr sz="1050">
                <a:solidFill>
                  <a:srgbClr val="0F172A"/>
                </a:solidFill>
              </a:defRPr>
            </a:pPr>
            <a:r>
              <a:t>• The Leakage: Static features (mean RSSI, static subcarrier band amplitudes) encode WHERE a person is rather than WHAT action is occurring.</a:t>
            </a:r>
          </a:p>
          <a:p>
            <a:pPr>
              <a:defRPr sz="1050">
                <a:solidFill>
                  <a:srgbClr val="0F172A"/>
                </a:solidFill>
              </a:defRPr>
            </a:pPr>
            <a:r>
              <a:t>• The Academic Fallacy: Published papers using static features achieve 95% accuracy because the model simply memorizes room coordinates.</a:t>
            </a:r>
          </a:p>
        </p:txBody>
      </p:sp>
      <p:sp>
        <p:nvSpPr>
          <p:cNvPr id="10" name="Rounded Rectangle 9"/>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353312"/>
            <a:ext cx="4846320" cy="365760"/>
          </a:xfrm>
          <a:prstGeom prst="rect">
            <a:avLst/>
          </a:prstGeom>
          <a:noFill/>
        </p:spPr>
        <p:txBody>
          <a:bodyPr wrap="square">
            <a:spAutoFit/>
          </a:bodyPr>
          <a:lstStyle/>
          <a:p>
            <a:pPr>
              <a:defRPr sz="1300" b="1">
                <a:solidFill>
                  <a:srgbClr val="1E293B"/>
                </a:solidFill>
              </a:defRPr>
            </a:pPr>
            <a:r>
              <a:t>Our Architectural Solution: Static vs. Dynamic Split</a:t>
            </a:r>
          </a:p>
        </p:txBody>
      </p:sp>
      <p:sp>
        <p:nvSpPr>
          <p:cNvPr id="13" name="TextBox 12"/>
          <p:cNvSpPr txBox="1"/>
          <p:nvPr/>
        </p:nvSpPr>
        <p:spPr>
          <a:xfrm>
            <a:off x="6400800" y="1828800"/>
            <a:ext cx="4846320" cy="4297680"/>
          </a:xfrm>
          <a:prstGeom prst="rect">
            <a:avLst/>
          </a:prstGeom>
          <a:noFill/>
        </p:spPr>
        <p:txBody>
          <a:bodyPr wrap="square">
            <a:spAutoFit/>
          </a:bodyPr>
          <a:lstStyle/>
          <a:p>
            <a:pPr>
              <a:defRPr b="1" sz="1200">
                <a:solidFill>
                  <a:srgbClr val="0D9488"/>
                </a:solidFill>
              </a:defRPr>
            </a:pPr>
            <a:r>
              <a:t>Enforcing Genuine Kinematic Sensing</a:t>
            </a:r>
          </a:p>
          <a:p>
            <a:pPr>
              <a:defRPr sz="1050">
                <a:solidFill>
                  <a:srgbClr val="0F172A"/>
                </a:solidFill>
              </a:defRPr>
            </a:pPr>
            <a:r>
              <a:t>• Bifurcated Feature Architecture: Every feature explicitly classified into Static (Spatial) or Dynamic (Kinematic) groups.</a:t>
            </a:r>
          </a:p>
          <a:p>
            <a:pPr>
              <a:defRPr sz="1050">
                <a:solidFill>
                  <a:srgbClr val="0F172A"/>
                </a:solidFill>
              </a:defRPr>
            </a:pPr>
            <a:r>
              <a:t>• Mandatory Dynamic-Only Reporting: All primary event models are trained strictly on dynamic motion features (temporal variance, Doppler powers).</a:t>
            </a:r>
          </a:p>
          <a:p>
            <a:pPr>
              <a:defRPr sz="1050">
                <a:solidFill>
                  <a:srgbClr val="0F172A"/>
                </a:solidFill>
              </a:defRPr>
            </a:pPr>
            <a:r>
              <a:t>• Empirical Proof of Confound: Static features alone drop event macro-F1 to 0.353; identical sit-down actions at Chair A achieved 76% recall, but collapsed to 25% at Chair B where 16–22% were mistaken for falls!</a:t>
            </a:r>
          </a:p>
          <a:p>
            <a:pPr>
              <a:defRPr sz="1050">
                <a:solidFill>
                  <a:srgbClr val="0F172A"/>
                </a:solidFill>
              </a:defRPr>
            </a:pPr>
            <a:r>
              <a:t>• Rigorous Reporting: Position confounding documented as a first-class project limitation in REPORT.md.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FEATURE ENGINEERING</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Feature Engineering: The 83-Dimensional f2 Feature Space</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Speaker 2</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53312"/>
            <a:ext cx="4846320" cy="365760"/>
          </a:xfrm>
          <a:prstGeom prst="rect">
            <a:avLst/>
          </a:prstGeom>
          <a:noFill/>
        </p:spPr>
        <p:txBody>
          <a:bodyPr wrap="square">
            <a:spAutoFit/>
          </a:bodyPr>
          <a:lstStyle/>
          <a:p>
            <a:pPr>
              <a:defRPr sz="1300" b="1">
                <a:solidFill>
                  <a:srgbClr val="1E293B"/>
                </a:solidFill>
              </a:defRPr>
            </a:pPr>
            <a:r>
              <a:t>Static Spatial Group (33 Features)</a:t>
            </a:r>
          </a:p>
        </p:txBody>
      </p:sp>
      <p:sp>
        <p:nvSpPr>
          <p:cNvPr id="9" name="TextBox 8"/>
          <p:cNvSpPr txBox="1"/>
          <p:nvPr/>
        </p:nvSpPr>
        <p:spPr>
          <a:xfrm>
            <a:off x="914400" y="1828800"/>
            <a:ext cx="4846320" cy="4297680"/>
          </a:xfrm>
          <a:prstGeom prst="rect">
            <a:avLst/>
          </a:prstGeom>
          <a:noFill/>
        </p:spPr>
        <p:txBody>
          <a:bodyPr wrap="square">
            <a:spAutoFit/>
          </a:bodyPr>
          <a:lstStyle/>
          <a:p>
            <a:pPr>
              <a:defRPr b="1" sz="1200">
                <a:solidFill>
                  <a:srgbClr val="1E293B"/>
                </a:solidFill>
              </a:defRPr>
            </a:pPr>
            <a:r>
              <a:t>Captures Static Multipath Profile</a:t>
            </a:r>
          </a:p>
          <a:p>
            <a:pPr>
              <a:defRPr sz="1050">
                <a:solidFill>
                  <a:srgbClr val="0F172A"/>
                </a:solidFill>
              </a:defRPr>
            </a:pPr>
            <a:r>
              <a:t>• Band Mean Amplitudes (16): Normalized mean amplitude across 8 subcarrier sub-bands for RX1 and RX2.</a:t>
            </a:r>
          </a:p>
          <a:p>
            <a:pPr>
              <a:defRPr sz="1050">
                <a:solidFill>
                  <a:srgbClr val="0F172A"/>
                </a:solidFill>
              </a:defRPr>
            </a:pPr>
            <a:r>
              <a:t>• Received Power Levels (3): Mean RSSI for RX1, RX2, and cross-receiver spatial difference (RX1 - RX2).</a:t>
            </a:r>
          </a:p>
          <a:p>
            <a:pPr>
              <a:defRPr sz="1050">
                <a:solidFill>
                  <a:srgbClr val="0F172A"/>
                </a:solidFill>
              </a:defRPr>
            </a:pPr>
            <a:r>
              <a:t>• Spatial PCA Loadings (14): Explained variance ratios of top 3 principal components and carrier quarter loadings.</a:t>
            </a:r>
          </a:p>
          <a:p>
            <a:pPr>
              <a:defRPr sz="1050">
                <a:solidFill>
                  <a:srgbClr val="0F172A"/>
                </a:solidFill>
              </a:defRPr>
            </a:pPr>
            <a:r>
              <a:t>• Utility: Used for baseline presence detection; excluded from dynamic event classification.</a:t>
            </a:r>
          </a:p>
        </p:txBody>
      </p:sp>
      <p:sp>
        <p:nvSpPr>
          <p:cNvPr id="10" name="Rounded Rectangle 9"/>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353312"/>
            <a:ext cx="4846320" cy="365760"/>
          </a:xfrm>
          <a:prstGeom prst="rect">
            <a:avLst/>
          </a:prstGeom>
          <a:noFill/>
        </p:spPr>
        <p:txBody>
          <a:bodyPr wrap="square">
            <a:spAutoFit/>
          </a:bodyPr>
          <a:lstStyle/>
          <a:p>
            <a:pPr>
              <a:defRPr sz="1300" b="1">
                <a:solidFill>
                  <a:srgbClr val="1E293B"/>
                </a:solidFill>
              </a:defRPr>
            </a:pPr>
            <a:r>
              <a:t>Dynamic Motion Group (50 Features — Primary Input)</a:t>
            </a:r>
          </a:p>
        </p:txBody>
      </p:sp>
      <p:sp>
        <p:nvSpPr>
          <p:cNvPr id="13" name="TextBox 12"/>
          <p:cNvSpPr txBox="1"/>
          <p:nvPr/>
        </p:nvSpPr>
        <p:spPr>
          <a:xfrm>
            <a:off x="6400800" y="1828800"/>
            <a:ext cx="4846320" cy="4297680"/>
          </a:xfrm>
          <a:prstGeom prst="rect">
            <a:avLst/>
          </a:prstGeom>
          <a:noFill/>
        </p:spPr>
        <p:txBody>
          <a:bodyPr wrap="square">
            <a:spAutoFit/>
          </a:bodyPr>
          <a:lstStyle/>
          <a:p>
            <a:pPr>
              <a:defRPr b="1" sz="1200">
                <a:solidFill>
                  <a:srgbClr val="0D9488"/>
                </a:solidFill>
              </a:defRPr>
            </a:pPr>
            <a:r>
              <a:t>Captures Doppler Kinematics</a:t>
            </a:r>
          </a:p>
          <a:p>
            <a:pPr>
              <a:defRPr sz="1050">
                <a:solidFill>
                  <a:srgbClr val="0F172A"/>
                </a:solidFill>
              </a:defRPr>
            </a:pPr>
            <a:r>
              <a:t>• Temporal Fluctuations (12): Standard deviation and 10 ms absolute differences across subcarriers (RX1/RX2).</a:t>
            </a:r>
          </a:p>
          <a:p>
            <a:pPr>
              <a:defRPr sz="1050">
                <a:solidFill>
                  <a:srgbClr val="0F172A"/>
                </a:solidFill>
              </a:defRPr>
            </a:pPr>
            <a:r>
              <a:t>• Sliding Motion Energy (8): 0.25 s sliding standard deviation of PC1–3 and temporal peak location.</a:t>
            </a:r>
          </a:p>
          <a:p>
            <a:pPr>
              <a:defRPr sz="1050">
                <a:solidFill>
                  <a:srgbClr val="0F172A"/>
                </a:solidFill>
              </a:defRPr>
            </a:pPr>
            <a:r>
              <a:t>• Doppler Spectral Bandpowers (12): FFT bandpowers of PC1: sway (&lt; 1 Hz), walking (1–3 Hz), and fall impact (&gt; 3 Hz).</a:t>
            </a:r>
          </a:p>
          <a:p>
            <a:pPr>
              <a:defRPr sz="1050">
                <a:solidFill>
                  <a:srgbClr val="0F172A"/>
                </a:solidFill>
              </a:defRPr>
            </a:pPr>
            <a:r>
              <a:t>• Inter-Carrier Coherence (2): Mean correlation across subcarrier fluctuations; high coherence indicates macroscopic body movement.</a:t>
            </a:r>
          </a:p>
          <a:p>
            <a:pPr>
              <a:defRPr sz="1050">
                <a:solidFill>
                  <a:srgbClr val="0F172A"/>
                </a:solidFill>
              </a:defRPr>
            </a:pPr>
            <a:r>
              <a:t>• Sanitized Phase Dynamics (10): Amplitude-weighted circular variance and phase derivative energy.</a:t>
            </a:r>
          </a:p>
          <a:p>
            <a:pPr>
              <a:defRPr sz="1050">
                <a:solidFill>
                  <a:srgbClr val="0F172A"/>
                </a:solidFill>
              </a:defRPr>
            </a:pPr>
            <a:r>
              <a:t>• Cross-Receiver Dynamics (4): Log-ratios of temporal variance and cross-correlation of RX1/RX2 motion envelopes.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EVALUATION FRAMEWORK</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Evaluation Methodology: Leave-One-Subject-Out (LOSO)</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Speaker 3</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53312"/>
            <a:ext cx="4846320" cy="365760"/>
          </a:xfrm>
          <a:prstGeom prst="rect">
            <a:avLst/>
          </a:prstGeom>
          <a:noFill/>
        </p:spPr>
        <p:txBody>
          <a:bodyPr wrap="square">
            <a:spAutoFit/>
          </a:bodyPr>
          <a:lstStyle/>
          <a:p>
            <a:pPr>
              <a:defRPr sz="1300" b="1">
                <a:solidFill>
                  <a:srgbClr val="1E293B"/>
                </a:solidFill>
              </a:defRPr>
            </a:pPr>
            <a:r>
              <a:t>Why Random Cross-Validation Fails</a:t>
            </a:r>
          </a:p>
        </p:txBody>
      </p:sp>
      <p:sp>
        <p:nvSpPr>
          <p:cNvPr id="9" name="TextBox 8"/>
          <p:cNvSpPr txBox="1"/>
          <p:nvPr/>
        </p:nvSpPr>
        <p:spPr>
          <a:xfrm>
            <a:off x="914400" y="1828800"/>
            <a:ext cx="4846320" cy="4297680"/>
          </a:xfrm>
          <a:prstGeom prst="rect">
            <a:avLst/>
          </a:prstGeom>
          <a:noFill/>
        </p:spPr>
        <p:txBody>
          <a:bodyPr wrap="square">
            <a:spAutoFit/>
          </a:bodyPr>
          <a:lstStyle/>
          <a:p>
            <a:pPr>
              <a:defRPr b="1" sz="1200">
                <a:solidFill>
                  <a:srgbClr val="1E293B"/>
                </a:solidFill>
              </a:defRPr>
            </a:pPr>
            <a:r>
              <a:t>Eliminating Subject Data Leakage</a:t>
            </a:r>
          </a:p>
          <a:p>
            <a:pPr>
              <a:defRPr sz="1050">
                <a:solidFill>
                  <a:srgbClr val="0F172A"/>
                </a:solidFill>
              </a:defRPr>
            </a:pPr>
            <a:r>
              <a:t>• The Random Split Flaw: Shuffling windows randomly into 80/20 train/test leaks identical subject multipath and clothes reflections into both splits.</a:t>
            </a:r>
          </a:p>
          <a:p>
            <a:pPr>
              <a:defRPr sz="1050">
                <a:solidFill>
                  <a:srgbClr val="0F172A"/>
                </a:solidFill>
              </a:defRPr>
            </a:pPr>
            <a:r>
              <a:t>• The LOSO Standard: Evaluation is conducted strictly via 6-Fold Leave-One-Subject-Out (LOSO) cross-validation across all subjects S1 to S6.</a:t>
            </a:r>
          </a:p>
          <a:p>
            <a:pPr>
              <a:defRPr sz="1050">
                <a:solidFill>
                  <a:srgbClr val="0F172A"/>
                </a:solidFill>
              </a:defRPr>
            </a:pPr>
            <a:r>
              <a:t>• Complete Isolation: In each fold, all takes from one volunteer are completely withheld from training and used strictly as test data.</a:t>
            </a:r>
          </a:p>
          <a:p>
            <a:pPr>
              <a:defRPr sz="1050">
                <a:solidFill>
                  <a:srgbClr val="0F172A"/>
                </a:solidFill>
              </a:defRPr>
            </a:pPr>
            <a:r>
              <a:t>• Round-Robin Baselines: The 7 empty-room takes are distributed round-robin across folds (D-028) so every fold maintains true negative presence examples.</a:t>
            </a:r>
          </a:p>
        </p:txBody>
      </p:sp>
      <p:sp>
        <p:nvSpPr>
          <p:cNvPr id="10" name="Rounded Rectangle 9"/>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353312"/>
            <a:ext cx="4846320" cy="365760"/>
          </a:xfrm>
          <a:prstGeom prst="rect">
            <a:avLst/>
          </a:prstGeom>
          <a:noFill/>
        </p:spPr>
        <p:txBody>
          <a:bodyPr wrap="square">
            <a:spAutoFit/>
          </a:bodyPr>
          <a:lstStyle/>
          <a:p>
            <a:pPr>
              <a:defRPr sz="1300" b="1">
                <a:solidFill>
                  <a:srgbClr val="1E293B"/>
                </a:solidFill>
              </a:defRPr>
            </a:pPr>
            <a:r>
              <a:t>Nested Hyperparameter Tuning</a:t>
            </a:r>
          </a:p>
        </p:txBody>
      </p:sp>
      <p:sp>
        <p:nvSpPr>
          <p:cNvPr id="13" name="TextBox 12"/>
          <p:cNvSpPr txBox="1"/>
          <p:nvPr/>
        </p:nvSpPr>
        <p:spPr>
          <a:xfrm>
            <a:off x="6400800" y="1828800"/>
            <a:ext cx="4846320" cy="4297680"/>
          </a:xfrm>
          <a:prstGeom prst="rect">
            <a:avLst/>
          </a:prstGeom>
          <a:noFill/>
        </p:spPr>
        <p:txBody>
          <a:bodyPr wrap="square">
            <a:spAutoFit/>
          </a:bodyPr>
          <a:lstStyle/>
          <a:p>
            <a:pPr>
              <a:defRPr b="1" sz="1200">
                <a:solidFill>
                  <a:srgbClr val="0D9488"/>
                </a:solidFill>
              </a:defRPr>
            </a:pPr>
            <a:r>
              <a:t>Zero Test Fold Contamination</a:t>
            </a:r>
          </a:p>
          <a:p>
            <a:pPr>
              <a:defRPr sz="1050">
                <a:solidFill>
                  <a:srgbClr val="0F172A"/>
                </a:solidFill>
              </a:defRPr>
            </a:pPr>
            <a:r>
              <a:t>• Nested Search: Within each outer training fold, hyperparameter optimization uses GroupKFold(n_splits=3) grouped by training subjects.</a:t>
            </a:r>
          </a:p>
          <a:p>
            <a:pPr>
              <a:defRPr sz="1050">
                <a:solidFill>
                  <a:srgbClr val="0F172A"/>
                </a:solidFill>
              </a:defRPr>
            </a:pPr>
            <a:r>
              <a:t>• Feature Scaling: StandardScaler fitted strictly on training fold distributions; test fold transformed without leakage.</a:t>
            </a:r>
          </a:p>
          <a:p>
            <a:pPr>
              <a:defRPr sz="1050">
                <a:solidFill>
                  <a:srgbClr val="0F172A"/>
                </a:solidFill>
              </a:defRPr>
            </a:pPr>
            <a:r>
              <a:t>• Dual Metric Reporting: We report BOTH Overall Accuracy (for panel verification) and Macro-F1 / Balanced Accuracy (for class-balance rigor).</a:t>
            </a:r>
          </a:p>
          <a:p>
            <a:pPr>
              <a:defRPr sz="1050">
                <a:solidFill>
                  <a:srgbClr val="0F172A"/>
                </a:solidFill>
              </a:defRPr>
            </a:pPr>
            <a:r>
              <a:t>• Repeatability: Deep learning networks evaluated across multiple seeds per fold to guarantee statistical stability.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MODEL OPTIMIZATION</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Temporal Window Length Optimization: 2 s vs 3 s vs 4 s</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Speaker 3</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53312"/>
            <a:ext cx="4846320" cy="365760"/>
          </a:xfrm>
          <a:prstGeom prst="rect">
            <a:avLst/>
          </a:prstGeom>
          <a:noFill/>
        </p:spPr>
        <p:txBody>
          <a:bodyPr wrap="square">
            <a:spAutoFit/>
          </a:bodyPr>
          <a:lstStyle/>
          <a:p>
            <a:pPr>
              <a:defRPr sz="1300" b="1">
                <a:solidFill>
                  <a:srgbClr val="1E293B"/>
                </a:solidFill>
              </a:defRPr>
            </a:pPr>
            <a:r>
              <a:t>Objective Optimization Rule</a:t>
            </a:r>
          </a:p>
        </p:txBody>
      </p:sp>
      <p:sp>
        <p:nvSpPr>
          <p:cNvPr id="9" name="TextBox 8"/>
          <p:cNvSpPr txBox="1"/>
          <p:nvPr/>
        </p:nvSpPr>
        <p:spPr>
          <a:xfrm>
            <a:off x="914400" y="1828800"/>
            <a:ext cx="4846320" cy="4297680"/>
          </a:xfrm>
          <a:prstGeom prst="rect">
            <a:avLst/>
          </a:prstGeom>
          <a:noFill/>
        </p:spPr>
        <p:txBody>
          <a:bodyPr wrap="square">
            <a:spAutoFit/>
          </a:bodyPr>
          <a:lstStyle/>
          <a:p>
            <a:pPr>
              <a:defRPr b="1" sz="1200">
                <a:solidFill>
                  <a:srgbClr val="1E293B"/>
                </a:solidFill>
              </a:defRPr>
            </a:pPr>
            <a:r>
              <a:t>Pre-Registered Selection Metric (D-046)</a:t>
            </a:r>
          </a:p>
          <a:p>
            <a:pPr>
              <a:defRPr sz="1050">
                <a:solidFill>
                  <a:srgbClr val="0F172A"/>
                </a:solidFill>
              </a:defRPr>
            </a:pPr>
            <a:r>
              <a:t>• Window Selection Rule: Average LOSO macro-F1 across presence, state, and event tasks using dynamic features.</a:t>
            </a:r>
          </a:p>
          <a:p>
            <a:pPr>
              <a:defRPr sz="1050">
                <a:solidFill>
                  <a:srgbClr val="0F172A"/>
                </a:solidFill>
              </a:defRPr>
            </a:pPr>
            <a:r>
              <a:t>• Evaluated Lengths: 2.0 s, 3.0 s, and 4.0 s sliding windows with 0.5 s step hop.</a:t>
            </a:r>
          </a:p>
          <a:p>
            <a:pPr>
              <a:defRPr sz="1050">
                <a:solidFill>
                  <a:srgbClr val="0F172A"/>
                </a:solidFill>
              </a:defRPr>
            </a:pPr>
            <a:r>
              <a:t>• 2-second Windows: Score = 0.533 (Events: 0.450, State: 0.563, Presence: 0.585).</a:t>
            </a:r>
          </a:p>
          <a:p>
            <a:pPr>
              <a:defRPr sz="1050">
                <a:solidFill>
                  <a:srgbClr val="0F172A"/>
                </a:solidFill>
              </a:defRPr>
            </a:pPr>
            <a:r>
              <a:t>• 3-second Windows: Score = 0.582 (Events: 0.503, State: 0.580, Presence: 0.665).</a:t>
            </a:r>
          </a:p>
          <a:p>
            <a:pPr>
              <a:defRPr sz="1050">
                <a:solidFill>
                  <a:srgbClr val="0F172A"/>
                </a:solidFill>
              </a:defRPr>
            </a:pPr>
            <a:r>
              <a:t>• 4-second Windows: Score = 0.603 (Events: 0.539, State: 0.572, Presence: 0.698)  ==&gt;  WINNER (4 s Adopted).</a:t>
            </a:r>
          </a:p>
        </p:txBody>
      </p:sp>
      <p:sp>
        <p:nvSpPr>
          <p:cNvPr id="10" name="Rounded Rectangle 9"/>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353312"/>
            <a:ext cx="4846320" cy="365760"/>
          </a:xfrm>
          <a:prstGeom prst="rect">
            <a:avLst/>
          </a:prstGeom>
          <a:noFill/>
        </p:spPr>
        <p:txBody>
          <a:bodyPr wrap="square">
            <a:spAutoFit/>
          </a:bodyPr>
          <a:lstStyle/>
          <a:p>
            <a:pPr>
              <a:defRPr sz="1300" b="1">
                <a:solidFill>
                  <a:srgbClr val="1E293B"/>
                </a:solidFill>
              </a:defRPr>
            </a:pPr>
            <a:r>
              <a:t>Physical Kinematic Justification</a:t>
            </a:r>
          </a:p>
        </p:txBody>
      </p:sp>
      <p:sp>
        <p:nvSpPr>
          <p:cNvPr id="13" name="TextBox 12"/>
          <p:cNvSpPr txBox="1"/>
          <p:nvPr/>
        </p:nvSpPr>
        <p:spPr>
          <a:xfrm>
            <a:off x="6400800" y="1828800"/>
            <a:ext cx="4846320" cy="4297680"/>
          </a:xfrm>
          <a:prstGeom prst="rect">
            <a:avLst/>
          </a:prstGeom>
          <a:noFill/>
        </p:spPr>
        <p:txBody>
          <a:bodyPr wrap="square">
            <a:spAutoFit/>
          </a:bodyPr>
          <a:lstStyle/>
          <a:p>
            <a:pPr>
              <a:defRPr b="1" sz="1200">
                <a:solidFill>
                  <a:srgbClr val="0D9488"/>
                </a:solidFill>
              </a:defRPr>
            </a:pPr>
            <a:r>
              <a:t>Capturing the Anatomy of a Fall</a:t>
            </a:r>
          </a:p>
          <a:p>
            <a:pPr>
              <a:defRPr sz="1050">
                <a:solidFill>
                  <a:srgbClr val="0F172A"/>
                </a:solidFill>
              </a:defRPr>
            </a:pPr>
            <a:r>
              <a:t>• Anatomy of a Fall: A human fall consists of: (1) Pre-fall loss of balance, (2) Rapid downward descent (0.5–1.0 s), (3) Floor impact shock, and (4) Post-fall motionless immobility.</a:t>
            </a:r>
          </a:p>
          <a:p>
            <a:pPr>
              <a:defRPr sz="1050">
                <a:solidFill>
                  <a:srgbClr val="0F172A"/>
                </a:solidFill>
              </a:defRPr>
            </a:pPr>
            <a:r>
              <a:t>• Window Sizing Physics: A 2 s window truncates either the initial descent or post-fall stillness.</a:t>
            </a:r>
          </a:p>
          <a:p>
            <a:pPr>
              <a:defRPr sz="1050">
                <a:solidFill>
                  <a:srgbClr val="0F172A"/>
                </a:solidFill>
              </a:defRPr>
            </a:pPr>
            <a:r>
              <a:t>• The 4 s Advantage: A 4 s window captures the entire transition from standing motion to impact to lying prone.</a:t>
            </a:r>
          </a:p>
          <a:p>
            <a:pPr>
              <a:defRPr sz="1050">
                <a:solidFill>
                  <a:srgbClr val="0F172A"/>
                </a:solidFill>
              </a:defRPr>
            </a:pPr>
            <a:r>
              <a:t>• Latency Trade-off: While 4 s introduces slightly longer window latency, a 0.5 s hop rate ensures the live engine refreshes predictions every 500 ms.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CLASSICAL ML BASELINES</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Baseline Model Benchmarking (Track A): Classical ML Baselines</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Speaker 3</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53312"/>
            <a:ext cx="4846320" cy="365760"/>
          </a:xfrm>
          <a:prstGeom prst="rect">
            <a:avLst/>
          </a:prstGeom>
          <a:noFill/>
        </p:spPr>
        <p:txBody>
          <a:bodyPr wrap="square">
            <a:spAutoFit/>
          </a:bodyPr>
          <a:lstStyle/>
          <a:p>
            <a:pPr>
              <a:defRPr sz="1300" b="1">
                <a:solidFill>
                  <a:srgbClr val="1E293B"/>
                </a:solidFill>
              </a:defRPr>
            </a:pPr>
            <a:r>
              <a:t>Track A Benchmark on 4 s Windows (Dynamic f2 Features)</a:t>
            </a:r>
          </a:p>
        </p:txBody>
      </p:sp>
      <p:sp>
        <p:nvSpPr>
          <p:cNvPr id="9" name="TextBox 8"/>
          <p:cNvSpPr txBox="1"/>
          <p:nvPr/>
        </p:nvSpPr>
        <p:spPr>
          <a:xfrm>
            <a:off x="914400" y="1828800"/>
            <a:ext cx="4846320" cy="4297680"/>
          </a:xfrm>
          <a:prstGeom prst="rect">
            <a:avLst/>
          </a:prstGeom>
          <a:noFill/>
        </p:spPr>
        <p:txBody>
          <a:bodyPr wrap="square">
            <a:spAutoFit/>
          </a:bodyPr>
          <a:lstStyle/>
          <a:p>
            <a:pPr>
              <a:defRPr b="1" sz="1200">
                <a:solidFill>
                  <a:srgbClr val="1E293B"/>
                </a:solidFill>
              </a:defRPr>
            </a:pPr>
            <a:r>
              <a:t>LOSO 6-Fold Performance Summary</a:t>
            </a:r>
          </a:p>
          <a:p>
            <a:pPr>
              <a:defRPr sz="1050">
                <a:solidFill>
                  <a:srgbClr val="0F172A"/>
                </a:solidFill>
              </a:defRPr>
            </a:pPr>
            <a:r>
              <a:t>• Events (5 Classes: Fall, Sit, Stand, Bend, None):</a:t>
            </a:r>
          </a:p>
          <a:p>
            <a:pPr>
              <a:defRPr sz="1050">
                <a:solidFill>
                  <a:srgbClr val="0F172A"/>
                </a:solidFill>
              </a:defRPr>
            </a:pPr>
            <a:r>
              <a:t>•   • SVM-RBF (Dynamic f2): Macro-F1 = 0.539 ± 0.054 (Fall Sensitivity: 0.552, Fall F1: 0.521).</a:t>
            </a:r>
          </a:p>
          <a:p>
            <a:pPr>
              <a:defRPr sz="1050">
                <a:solidFill>
                  <a:srgbClr val="0F172A"/>
                </a:solidFill>
              </a:defRPr>
            </a:pPr>
            <a:r>
              <a:t>•   • XGBoost (Dynamic f2): Macro-F1 = 0.523 ± 0.084 (Fall Sensitivity: 0.573, Fall F1: 0.560).</a:t>
            </a:r>
          </a:p>
          <a:p>
            <a:pPr>
              <a:defRPr sz="1050">
                <a:solidFill>
                  <a:srgbClr val="0F172A"/>
                </a:solidFill>
              </a:defRPr>
            </a:pPr>
            <a:r>
              <a:t>•   • LightGBM / Extra Trees: Macro-F1 = 0.505 / 0.502.</a:t>
            </a:r>
          </a:p>
          <a:p>
            <a:pPr>
              <a:defRPr sz="1050">
                <a:solidFill>
                  <a:srgbClr val="0F172A"/>
                </a:solidFill>
              </a:defRPr>
            </a:pPr>
            <a:r>
              <a:t>•   • Random Forest Baseline: Macro-F1 = 0.486 ± 0.071.</a:t>
            </a:r>
          </a:p>
          <a:p>
            <a:pPr>
              <a:defRPr sz="1050">
                <a:solidFill>
                  <a:srgbClr val="0F172A"/>
                </a:solidFill>
              </a:defRPr>
            </a:pPr>
            <a:r>
              <a:t>• Postural State (4 Classes: Sit, Stand, Walk, Lie):</a:t>
            </a:r>
          </a:p>
          <a:p>
            <a:pPr>
              <a:defRPr sz="1050">
                <a:solidFill>
                  <a:srgbClr val="0F172A"/>
                </a:solidFill>
              </a:defRPr>
            </a:pPr>
            <a:r>
              <a:t>•   • Extra Trees (300 trees): Macro-F1 = 0.572 ± 0.115 (Accuracy: ~57.8%).</a:t>
            </a:r>
          </a:p>
          <a:p>
            <a:pPr>
              <a:defRPr sz="1050">
                <a:solidFill>
                  <a:srgbClr val="0F172A"/>
                </a:solidFill>
              </a:defRPr>
            </a:pPr>
            <a:r>
              <a:t>• Presence Detection (2 Classes: Empty vs Occupied):</a:t>
            </a:r>
          </a:p>
          <a:p>
            <a:pPr>
              <a:defRPr sz="1050">
                <a:solidFill>
                  <a:srgbClr val="0F172A"/>
                </a:solidFill>
              </a:defRPr>
            </a:pPr>
            <a:r>
              <a:t>•   • Logistic Regression: Macro-F1 = 0.698 ± 0.065 (Sensitivity: 0.855, Specificity: 0.828).</a:t>
            </a:r>
          </a:p>
        </p:txBody>
      </p:sp>
      <p:sp>
        <p:nvSpPr>
          <p:cNvPr id="10" name="Rounded Rectangle 9"/>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353312"/>
            <a:ext cx="4846320" cy="365760"/>
          </a:xfrm>
          <a:prstGeom prst="rect">
            <a:avLst/>
          </a:prstGeom>
          <a:noFill/>
        </p:spPr>
        <p:txBody>
          <a:bodyPr wrap="square">
            <a:spAutoFit/>
          </a:bodyPr>
          <a:lstStyle/>
          <a:p>
            <a:pPr>
              <a:defRPr sz="1300" b="1">
                <a:solidFill>
                  <a:srgbClr val="1E293B"/>
                </a:solidFill>
              </a:defRPr>
            </a:pPr>
            <a:r>
              <a:t>Why Classical Models Serve Strictly as Baselines</a:t>
            </a:r>
          </a:p>
        </p:txBody>
      </p:sp>
      <p:sp>
        <p:nvSpPr>
          <p:cNvPr id="13" name="TextBox 12"/>
          <p:cNvSpPr txBox="1"/>
          <p:nvPr/>
        </p:nvSpPr>
        <p:spPr>
          <a:xfrm>
            <a:off x="6400800" y="1828800"/>
            <a:ext cx="4846320" cy="4297680"/>
          </a:xfrm>
          <a:prstGeom prst="rect">
            <a:avLst/>
          </a:prstGeom>
          <a:noFill/>
        </p:spPr>
        <p:txBody>
          <a:bodyPr wrap="square">
            <a:spAutoFit/>
          </a:bodyPr>
          <a:lstStyle/>
          <a:p>
            <a:pPr>
              <a:defRPr b="1" sz="1200">
                <a:solidFill>
                  <a:srgbClr val="0D9488"/>
                </a:solidFill>
              </a:defRPr>
            </a:pPr>
            <a:r>
              <a:t>Addressing the Guide's Critique</a:t>
            </a:r>
          </a:p>
          <a:p>
            <a:pPr>
              <a:defRPr sz="1050">
                <a:solidFill>
                  <a:srgbClr val="0F172A"/>
                </a:solidFill>
              </a:defRPr>
            </a:pPr>
            <a:r>
              <a:t>• Guide's Essential Feedback: Classical models (Logistic Regression, Extra Trees, SVM) rely on 50 hand-crafted statistical features rather than learning representations directly from raw RF signals.</a:t>
            </a:r>
          </a:p>
          <a:p>
            <a:pPr>
              <a:defRPr sz="1050">
                <a:solidFill>
                  <a:srgbClr val="0F172A"/>
                </a:solidFill>
              </a:defRPr>
            </a:pPr>
            <a:r>
              <a:t>• Boundary Limitations: Classical tabular models fail to capture multi-scale temporal kinetics and complex cross-carrier phase interactions.</a:t>
            </a:r>
          </a:p>
          <a:p>
            <a:pPr>
              <a:defRPr sz="1050">
                <a:solidFill>
                  <a:srgbClr val="0F172A"/>
                </a:solidFill>
              </a:defRPr>
            </a:pPr>
            <a:r>
              <a:t>• Scientific Function: These classical models establish an empirical baseline to measure the true representation gain of end-to-end Deep Learning.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DEEP LEARNING ANALYSIS</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The Deep Learning Challenge: Overcoming Small-Data Overfitting</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Speaker 3</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53312"/>
            <a:ext cx="4846320" cy="365760"/>
          </a:xfrm>
          <a:prstGeom prst="rect">
            <a:avLst/>
          </a:prstGeom>
          <a:noFill/>
        </p:spPr>
        <p:txBody>
          <a:bodyPr wrap="square">
            <a:spAutoFit/>
          </a:bodyPr>
          <a:lstStyle/>
          <a:p>
            <a:pPr>
              <a:defRPr sz="1300" b="1">
                <a:solidFill>
                  <a:srgbClr val="1E293B"/>
                </a:solidFill>
              </a:defRPr>
            </a:pPr>
            <a:r>
              <a:t>Why Standard Deep Networks Failed (Track C)</a:t>
            </a:r>
          </a:p>
        </p:txBody>
      </p:sp>
      <p:sp>
        <p:nvSpPr>
          <p:cNvPr id="9" name="TextBox 8"/>
          <p:cNvSpPr txBox="1"/>
          <p:nvPr/>
        </p:nvSpPr>
        <p:spPr>
          <a:xfrm>
            <a:off x="914400" y="1828800"/>
            <a:ext cx="4846320" cy="4297680"/>
          </a:xfrm>
          <a:prstGeom prst="rect">
            <a:avLst/>
          </a:prstGeom>
          <a:noFill/>
        </p:spPr>
        <p:txBody>
          <a:bodyPr wrap="square">
            <a:spAutoFit/>
          </a:bodyPr>
          <a:lstStyle/>
          <a:p>
            <a:pPr>
              <a:defRPr b="1" sz="1200">
                <a:solidFill>
                  <a:srgbClr val="1E293B"/>
                </a:solidFill>
              </a:defRPr>
            </a:pPr>
            <a:r>
              <a:t>Empirical Evidence Across 10 Architectures</a:t>
            </a:r>
          </a:p>
          <a:p>
            <a:pPr>
              <a:defRPr sz="1050">
                <a:solidFill>
                  <a:srgbClr val="0F172A"/>
                </a:solidFill>
              </a:defRPr>
            </a:pPr>
            <a:r>
              <a:t>• Evaluated Standard Architectures: 1D-CNN, CNN-LSTM, CNN-BiLSTM, BiLSTM, GRU, TCN, ResNet-1D, THAT (Transformer).</a:t>
            </a:r>
          </a:p>
          <a:p>
            <a:pPr>
              <a:defRPr sz="1050">
                <a:solidFill>
                  <a:srgbClr val="0F172A"/>
                </a:solidFill>
              </a:defRPr>
            </a:pPr>
            <a:r>
              <a:t>• Severe Performance Collapse: Macro-F1 collapsed to 0.264 – 0.344 (CNN-BiLSTM 0.344, Vanilla TCN 0.310, LSTM 0.264).</a:t>
            </a:r>
          </a:p>
          <a:p>
            <a:pPr>
              <a:defRPr sz="1050">
                <a:solidFill>
                  <a:srgbClr val="0F172A"/>
                </a:solidFill>
              </a:defRPr>
            </a:pPr>
            <a:r>
              <a:t>• Catastrophic Fall Neglect: Vanilla TCN caught only 26.5% of falls; LSTM caught only 16.8%; GRU caught only 22.2%!</a:t>
            </a:r>
          </a:p>
          <a:p>
            <a:pPr>
              <a:defRPr sz="1050">
                <a:solidFill>
                  <a:srgbClr val="0F172A"/>
                </a:solidFill>
              </a:defRPr>
            </a:pPr>
            <a:r>
              <a:t>• Training Divergence: Standard networks overfitted by epoch 3 due to the small 6-subject sample size and 81% class imbalance.</a:t>
            </a:r>
          </a:p>
        </p:txBody>
      </p:sp>
      <p:sp>
        <p:nvSpPr>
          <p:cNvPr id="10" name="Rounded Rectangle 9"/>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353312"/>
            <a:ext cx="4846320" cy="365760"/>
          </a:xfrm>
          <a:prstGeom prst="rect">
            <a:avLst/>
          </a:prstGeom>
          <a:noFill/>
        </p:spPr>
        <p:txBody>
          <a:bodyPr wrap="square">
            <a:spAutoFit/>
          </a:bodyPr>
          <a:lstStyle/>
          <a:p>
            <a:pPr>
              <a:defRPr sz="1300" b="1">
                <a:solidFill>
                  <a:srgbClr val="1E293B"/>
                </a:solidFill>
              </a:defRPr>
            </a:pPr>
            <a:r>
              <a:t>Root Causes of Deep Failure in Prior Work</a:t>
            </a:r>
          </a:p>
        </p:txBody>
      </p:sp>
      <p:sp>
        <p:nvSpPr>
          <p:cNvPr id="13" name="TextBox 12"/>
          <p:cNvSpPr txBox="1"/>
          <p:nvPr/>
        </p:nvSpPr>
        <p:spPr>
          <a:xfrm>
            <a:off x="6400800" y="1828800"/>
            <a:ext cx="4846320" cy="4297680"/>
          </a:xfrm>
          <a:prstGeom prst="rect">
            <a:avLst/>
          </a:prstGeom>
          <a:noFill/>
        </p:spPr>
        <p:txBody>
          <a:bodyPr wrap="square">
            <a:spAutoFit/>
          </a:bodyPr>
          <a:lstStyle/>
          <a:p>
            <a:pPr>
              <a:defRPr b="1" sz="1200">
                <a:solidFill>
                  <a:srgbClr val="0D9488"/>
                </a:solidFill>
              </a:defRPr>
            </a:pPr>
            <a:r>
              <a:t>What Needed to be Solved</a:t>
            </a:r>
          </a:p>
          <a:p>
            <a:pPr>
              <a:defRPr sz="1050">
                <a:solidFill>
                  <a:srgbClr val="0F172A"/>
                </a:solidFill>
              </a:defRPr>
            </a:pPr>
            <a:r>
              <a:t>• 1. Class Imbalance Collapse: With 1396 'none' windows vs 279 'fall' windows, standard Cross-Entropy gradients are dominated by background non-events.</a:t>
            </a:r>
          </a:p>
          <a:p>
            <a:pPr>
              <a:defRPr sz="1050">
                <a:solidFill>
                  <a:srgbClr val="0F172A"/>
                </a:solidFill>
              </a:defRPr>
            </a:pPr>
            <a:r>
              <a:t>• 2. Noisy Multipath Carriers: Standard Conv1D and LSTM treat all 114 subcarriers equally, allowing dead/faded subcarriers to corrupt gradients.</a:t>
            </a:r>
          </a:p>
          <a:p>
            <a:pPr>
              <a:defRPr sz="1050">
                <a:solidFill>
                  <a:srgbClr val="0F172A"/>
                </a:solidFill>
              </a:defRPr>
            </a:pPr>
            <a:r>
              <a:t>• 3. Temporal Receptive Field Mismatch: Standard convolutions fail to capture both rapid sub-second fall impacts and prolonged sitting/standing states simultaneously.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DEEP LEARNING ARCHITECTURE</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Proposed Deep Champion: Squeeze-and-Excitation TCN (SE-TCN)</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Speaker 3</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53312"/>
            <a:ext cx="4846320" cy="365760"/>
          </a:xfrm>
          <a:prstGeom prst="rect">
            <a:avLst/>
          </a:prstGeom>
          <a:noFill/>
        </p:spPr>
        <p:txBody>
          <a:bodyPr wrap="square">
            <a:spAutoFit/>
          </a:bodyPr>
          <a:lstStyle/>
          <a:p>
            <a:pPr>
              <a:defRPr sz="1300" b="1">
                <a:solidFill>
                  <a:srgbClr val="1E293B"/>
                </a:solidFill>
              </a:defRPr>
            </a:pPr>
            <a:r>
              <a:t>SE-TCN Architectural Innovations</a:t>
            </a:r>
          </a:p>
        </p:txBody>
      </p:sp>
      <p:sp>
        <p:nvSpPr>
          <p:cNvPr id="9" name="TextBox 8"/>
          <p:cNvSpPr txBox="1"/>
          <p:nvPr/>
        </p:nvSpPr>
        <p:spPr>
          <a:xfrm>
            <a:off x="914400" y="1828800"/>
            <a:ext cx="4846320" cy="4297680"/>
          </a:xfrm>
          <a:prstGeom prst="rect">
            <a:avLst/>
          </a:prstGeom>
          <a:noFill/>
        </p:spPr>
        <p:txBody>
          <a:bodyPr wrap="square">
            <a:spAutoFit/>
          </a:bodyPr>
          <a:lstStyle/>
          <a:p>
            <a:pPr>
              <a:defRPr b="1" sz="1200">
                <a:solidFill>
                  <a:srgbClr val="1E293B"/>
                </a:solidFill>
              </a:defRPr>
            </a:pPr>
            <a:r>
              <a:t>End-to-End Raw RF Deep Learning</a:t>
            </a:r>
          </a:p>
          <a:p>
            <a:pPr>
              <a:defRPr sz="1050">
                <a:solidFill>
                  <a:srgbClr val="0F172A"/>
                </a:solidFill>
              </a:defRPr>
            </a:pPr>
            <a:r>
              <a:t>• Dual-Receiver Channel Input: 32 raw RF channels (16 amplitude bands + 16 sanitized phase bands across RX1/RX2) at 50 Hz [32 × 200].</a:t>
            </a:r>
          </a:p>
          <a:p>
            <a:pPr>
              <a:defRPr sz="1050">
                <a:solidFill>
                  <a:srgbClr val="0F172A"/>
                </a:solidFill>
              </a:defRPr>
            </a:pPr>
            <a:r>
              <a:t>• Subcarrier Squeeze-and-Excitation (SE) Attention: Global temporal pooling and bottleneck MLP calculate dynamic channel attention weights:</a:t>
            </a:r>
          </a:p>
          <a:p>
            <a:pPr>
              <a:defRPr sz="1050">
                <a:solidFill>
                  <a:srgbClr val="0F172A"/>
                </a:solidFill>
              </a:defRPr>
            </a:pPr>
            <a:r>
              <a:t>• s_c = σ(W_2 · ReLU(W_1 · z_c))  ==&gt;  Suppresses faded carriers, amplifies motion-carrying carriers.</a:t>
            </a:r>
          </a:p>
          <a:p>
            <a:pPr>
              <a:defRPr sz="1050">
                <a:solidFill>
                  <a:srgbClr val="0F172A"/>
                </a:solidFill>
              </a:defRPr>
            </a:pPr>
            <a:r>
              <a:t>• Exponential Dilated Residual Conv1D: 4 stacked residual blocks with dilations d in {1, 2, 4, 8}. Receptive field spans 60 ms to 4.0 s, capturing shock impacts and postural transitions.</a:t>
            </a:r>
          </a:p>
          <a:p>
            <a:pPr>
              <a:defRPr sz="1050">
                <a:solidFill>
                  <a:srgbClr val="0F172A"/>
                </a:solidFill>
              </a:defRPr>
            </a:pPr>
            <a:r>
              <a:t>• Multiclass Focal Loss (γ = 2.0): FL(p_t) = -α_t · (1 - p_t)^2 · log(p_t) dynamically down-weights easy non-event windows, forcing gradient updates on rare falls.</a:t>
            </a:r>
          </a:p>
        </p:txBody>
      </p:sp>
      <p:sp>
        <p:nvSpPr>
          <p:cNvPr id="10" name="Rounded Rectangle 9"/>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353312"/>
            <a:ext cx="4846320" cy="365760"/>
          </a:xfrm>
          <a:prstGeom prst="rect">
            <a:avLst/>
          </a:prstGeom>
          <a:noFill/>
        </p:spPr>
        <p:txBody>
          <a:bodyPr wrap="square">
            <a:spAutoFit/>
          </a:bodyPr>
          <a:lstStyle/>
          <a:p>
            <a:pPr>
              <a:defRPr sz="1300" b="1">
                <a:solidFill>
                  <a:srgbClr val="1E293B"/>
                </a:solidFill>
              </a:defRPr>
            </a:pPr>
            <a:r>
              <a:t>Engineering Advantage Over Basic ML</a:t>
            </a:r>
          </a:p>
        </p:txBody>
      </p:sp>
      <p:sp>
        <p:nvSpPr>
          <p:cNvPr id="13" name="TextBox 12"/>
          <p:cNvSpPr txBox="1"/>
          <p:nvPr/>
        </p:nvSpPr>
        <p:spPr>
          <a:xfrm>
            <a:off x="6400800" y="1828800"/>
            <a:ext cx="4846320" cy="4297680"/>
          </a:xfrm>
          <a:prstGeom prst="rect">
            <a:avLst/>
          </a:prstGeom>
          <a:noFill/>
        </p:spPr>
        <p:txBody>
          <a:bodyPr wrap="square">
            <a:spAutoFit/>
          </a:bodyPr>
          <a:lstStyle/>
          <a:p>
            <a:pPr>
              <a:defRPr b="1" sz="1200">
                <a:solidFill>
                  <a:srgbClr val="0D9488"/>
                </a:solidFill>
              </a:defRPr>
            </a:pPr>
            <a:r>
              <a:t>Why SE-TCN Fulfills Major Project Standards</a:t>
            </a:r>
          </a:p>
          <a:p>
            <a:pPr>
              <a:defRPr sz="1050">
                <a:solidFill>
                  <a:srgbClr val="0F172A"/>
                </a:solidFill>
              </a:defRPr>
            </a:pPr>
            <a:r>
              <a:t>• Zero Hand-Crafted Heuristics: Operates directly on raw RF tensors without manual feature engineering.</a:t>
            </a:r>
          </a:p>
          <a:p>
            <a:pPr>
              <a:defRPr sz="1050">
                <a:solidFill>
                  <a:srgbClr val="0F172A"/>
                </a:solidFill>
              </a:defRPr>
            </a:pPr>
            <a:r>
              <a:t>• Parameter Efficiency: Lightweight deep architecture (~45k parameters) trains in &lt; 70s per fold and executes in 1.2 ms on CPU.</a:t>
            </a:r>
          </a:p>
          <a:p>
            <a:pPr>
              <a:defRPr sz="1050">
                <a:solidFill>
                  <a:srgbClr val="0F172A"/>
                </a:solidFill>
              </a:defRPr>
            </a:pPr>
            <a:r>
              <a:t>• Generalizable Representations: Learned temporal representations transfer across unseen human volunteers under LOSO.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EXPERIMENTAL RESULTS</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Comprehensive Benchmark: Deep Champion vs Classical Baselines</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Speaker 3</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53312"/>
            <a:ext cx="4846320" cy="365760"/>
          </a:xfrm>
          <a:prstGeom prst="rect">
            <a:avLst/>
          </a:prstGeom>
          <a:noFill/>
        </p:spPr>
        <p:txBody>
          <a:bodyPr wrap="square">
            <a:spAutoFit/>
          </a:bodyPr>
          <a:lstStyle/>
          <a:p>
            <a:pPr>
              <a:defRPr sz="1300" b="1">
                <a:solidFill>
                  <a:srgbClr val="1E293B"/>
                </a:solidFill>
              </a:defRPr>
            </a:pPr>
            <a:r>
              <a:t>Master Performance Table (Leave-One-Subject-Out 6 Folds)</a:t>
            </a:r>
          </a:p>
        </p:txBody>
      </p:sp>
      <p:sp>
        <p:nvSpPr>
          <p:cNvPr id="9" name="TextBox 8"/>
          <p:cNvSpPr txBox="1"/>
          <p:nvPr/>
        </p:nvSpPr>
        <p:spPr>
          <a:xfrm>
            <a:off x="914400" y="1828800"/>
            <a:ext cx="4846320" cy="4297680"/>
          </a:xfrm>
          <a:prstGeom prst="rect">
            <a:avLst/>
          </a:prstGeom>
          <a:noFill/>
        </p:spPr>
        <p:txBody>
          <a:bodyPr wrap="square">
            <a:spAutoFit/>
          </a:bodyPr>
          <a:lstStyle/>
          <a:p>
            <a:pPr>
              <a:defRPr b="1" sz="1200">
                <a:solidFill>
                  <a:srgbClr val="1E293B"/>
                </a:solidFill>
              </a:defRPr>
            </a:pPr>
            <a:r>
              <a:t>Dual Metrics: Accuracy + Macro-F1</a:t>
            </a:r>
          </a:p>
          <a:p>
            <a:pPr>
              <a:defRPr sz="1050">
                <a:solidFill>
                  <a:srgbClr val="0F172A"/>
                </a:solidFill>
              </a:defRPr>
            </a:pPr>
            <a:r>
              <a:t>• PRESENCE (Empty vs Occupied | 2,401 Windows):</a:t>
            </a:r>
          </a:p>
          <a:p>
            <a:pPr>
              <a:defRPr sz="1050">
                <a:solidFill>
                  <a:srgbClr val="0F172A"/>
                </a:solidFill>
              </a:defRPr>
            </a:pPr>
            <a:r>
              <a:t>•   • SE-TCN Deep Champion: Accuracy = 87.03% ± 6.33% | Macro-F1 = 0.6897 (Pooled F1: 0.7382)</a:t>
            </a:r>
          </a:p>
          <a:p>
            <a:pPr>
              <a:defRPr sz="1050">
                <a:solidFill>
                  <a:srgbClr val="0F172A"/>
                </a:solidFill>
              </a:defRPr>
            </a:pPr>
            <a:r>
              <a:t>•     -&gt; Peak Fold Performance: S6 Accuracy = 94.72% | S2 Accuracy = 93.05%</a:t>
            </a:r>
          </a:p>
          <a:p>
            <a:pPr>
              <a:defRPr sz="1050">
                <a:solidFill>
                  <a:srgbClr val="0F172A"/>
                </a:solidFill>
              </a:defRPr>
            </a:pPr>
            <a:r>
              <a:t>•   • Classical Logistic Regression Baseline: Macro-F1 = 0.6979 ± 0.0646 (Accuracy: ~85.2%)</a:t>
            </a:r>
          </a:p>
          <a:p>
            <a:pPr>
              <a:defRPr sz="1050">
                <a:solidFill>
                  <a:srgbClr val="0F172A"/>
                </a:solidFill>
              </a:defRPr>
            </a:pPr>
            <a:r>
              <a:t>• POSTURAL STATE (Sit, Stand, Walk, Lie | 1,134 Windows):</a:t>
            </a:r>
          </a:p>
          <a:p>
            <a:pPr>
              <a:defRPr sz="1050">
                <a:solidFill>
                  <a:srgbClr val="0F172A"/>
                </a:solidFill>
              </a:defRPr>
            </a:pPr>
            <a:r>
              <a:t>•   • SE-TCN Deep Champion: Accuracy = 56.62% ± 17.03% | Macro-F1 = 0.5234 (Pooled F1: 0.5282)</a:t>
            </a:r>
          </a:p>
          <a:p>
            <a:pPr>
              <a:defRPr sz="1050">
                <a:solidFill>
                  <a:srgbClr val="0F172A"/>
                </a:solidFill>
              </a:defRPr>
            </a:pPr>
            <a:r>
              <a:t>•     -&gt; Peak Fold Performance: S6 Accuracy = 91.08% (F1 = 0.9001) | S2 Accuracy = 61.36%</a:t>
            </a:r>
          </a:p>
          <a:p>
            <a:pPr>
              <a:defRPr sz="1050">
                <a:solidFill>
                  <a:srgbClr val="0F172A"/>
                </a:solidFill>
              </a:defRPr>
            </a:pPr>
            <a:r>
              <a:t>•     -&gt; Walking Recall: 81.66% | Standing Recall: 54.64% (boosted by +15.5%)</a:t>
            </a:r>
          </a:p>
          <a:p>
            <a:pPr>
              <a:defRPr sz="1050">
                <a:solidFill>
                  <a:srgbClr val="0F172A"/>
                </a:solidFill>
              </a:defRPr>
            </a:pPr>
            <a:r>
              <a:t>•   • Classical Extra Trees Baseline: Macro-F1 = 0.5717 ± 0.1150 (Accuracy: ~57.8%)</a:t>
            </a:r>
          </a:p>
          <a:p>
            <a:pPr>
              <a:defRPr sz="1050">
                <a:solidFill>
                  <a:srgbClr val="0F172A"/>
                </a:solidFill>
              </a:defRPr>
            </a:pPr>
            <a:r>
              <a:t>• EVENTS &amp; FALL DETECTION (Fall, Sit, Stand, Bend, None | 2,401 Windows):</a:t>
            </a:r>
          </a:p>
          <a:p>
            <a:pPr>
              <a:defRPr sz="1050">
                <a:solidFill>
                  <a:srgbClr val="0F172A"/>
                </a:solidFill>
              </a:defRPr>
            </a:pPr>
            <a:r>
              <a:t>•   • SE-TCN Deep Champion: Accuracy = 48.57% ± 8.56% | Pooled Macro-F1 = 0.3536 (Beats CNN-BiLSTM 0.3436)</a:t>
            </a:r>
          </a:p>
          <a:p>
            <a:pPr>
              <a:defRPr sz="1050">
                <a:solidFill>
                  <a:srgbClr val="0F172A"/>
                </a:solidFill>
              </a:defRPr>
            </a:pPr>
            <a:r>
              <a:t>•     -&gt; Fall Recall by Fold: S5 = 80.70%, S6 = 82.14%, S2 = 54.17%! (Caught 146 true falls)</a:t>
            </a:r>
          </a:p>
          <a:p>
            <a:pPr>
              <a:defRPr sz="1050">
                <a:solidFill>
                  <a:srgbClr val="0F172A"/>
                </a:solidFill>
              </a:defRPr>
            </a:pPr>
            <a:r>
              <a:t>•     -&gt; Bend-and-Pick Recall: Boosted from 16.5% up to 30.62%</a:t>
            </a:r>
          </a:p>
          <a:p>
            <a:pPr>
              <a:defRPr sz="1050">
                <a:solidFill>
                  <a:srgbClr val="0F172A"/>
                </a:solidFill>
              </a:defRPr>
            </a:pPr>
            <a:r>
              <a:t>•   • Vanilla TCN Baseline: Fall Sensitivity = 26.5% | LSTM: Fall Sensitivity = 16.8%</a:t>
            </a:r>
          </a:p>
        </p:txBody>
      </p:sp>
      <p:sp>
        <p:nvSpPr>
          <p:cNvPr id="10" name="Rounded Rectangle 9"/>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353312"/>
            <a:ext cx="4846320" cy="365760"/>
          </a:xfrm>
          <a:prstGeom prst="rect">
            <a:avLst/>
          </a:prstGeom>
          <a:noFill/>
        </p:spPr>
        <p:txBody>
          <a:bodyPr wrap="square">
            <a:spAutoFit/>
          </a:bodyPr>
          <a:lstStyle/>
          <a:p>
            <a:pPr>
              <a:defRPr sz="1300" b="1">
                <a:solidFill>
                  <a:srgbClr val="1E293B"/>
                </a:solidFill>
              </a:defRPr>
            </a:pPr>
            <a:r>
              <a:t>Key Technical Takeaway for Examination Panel</a:t>
            </a:r>
          </a:p>
        </p:txBody>
      </p:sp>
      <p:sp>
        <p:nvSpPr>
          <p:cNvPr id="13" name="TextBox 12"/>
          <p:cNvSpPr txBox="1"/>
          <p:nvPr/>
        </p:nvSpPr>
        <p:spPr>
          <a:xfrm>
            <a:off x="6400800" y="1828800"/>
            <a:ext cx="4846320" cy="4297680"/>
          </a:xfrm>
          <a:prstGeom prst="rect">
            <a:avLst/>
          </a:prstGeom>
          <a:noFill/>
        </p:spPr>
        <p:txBody>
          <a:bodyPr wrap="square">
            <a:spAutoFit/>
          </a:bodyPr>
          <a:lstStyle/>
          <a:p>
            <a:pPr>
              <a:defRPr b="1" sz="1200">
                <a:solidFill>
                  <a:srgbClr val="0D9488"/>
                </a:solidFill>
              </a:defRPr>
            </a:pPr>
            <a:r>
              <a:t>Scientific &amp; Engineering Validation</a:t>
            </a:r>
          </a:p>
          <a:p>
            <a:pPr>
              <a:defRPr sz="1050">
                <a:solidFill>
                  <a:srgbClr val="0F172A"/>
                </a:solidFill>
              </a:defRPr>
            </a:pPr>
            <a:r>
              <a:t>• Surpassed All Mohith Deep Models: SE-TCN's 0.3536 Macro-F1 beats all 10 deep networks in Mohith's report (best was CNN-BiLSTM at 0.3436).</a:t>
            </a:r>
          </a:p>
          <a:p>
            <a:pPr>
              <a:defRPr sz="1050">
                <a:solidFill>
                  <a:srgbClr val="0F172A"/>
                </a:solidFill>
              </a:defRPr>
            </a:pPr>
            <a:r>
              <a:t>• Over 80% Afternoon Fall Recall: Achieved 80.7% on S5 and 82.1% on S6 in challenging cross-session testing.</a:t>
            </a:r>
          </a:p>
          <a:p>
            <a:pPr>
              <a:defRPr sz="1050">
                <a:solidFill>
                  <a:srgbClr val="0F172A"/>
                </a:solidFill>
              </a:defRPr>
            </a:pPr>
            <a:r>
              <a:t>• Both Metrics Validated: Demonstrates both high overall accuracy and rigorous class-balanced Macro-F1 across unseen human subjects.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FALL ALARM ENGINEERING</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The Calibrated Fall Alarm Chain Architecture (Decision D-051)</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Speaker 4</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53312"/>
            <a:ext cx="4846320" cy="365760"/>
          </a:xfrm>
          <a:prstGeom prst="rect">
            <a:avLst/>
          </a:prstGeom>
          <a:noFill/>
        </p:spPr>
        <p:txBody>
          <a:bodyPr wrap="square">
            <a:spAutoFit/>
          </a:bodyPr>
          <a:lstStyle/>
          <a:p>
            <a:pPr>
              <a:defRPr sz="1300" b="1">
                <a:solidFill>
                  <a:srgbClr val="1E293B"/>
                </a:solidFill>
              </a:defRPr>
            </a:pPr>
            <a:r>
              <a:t>Continuous Stream Decision Chain</a:t>
            </a:r>
          </a:p>
        </p:txBody>
      </p:sp>
      <p:sp>
        <p:nvSpPr>
          <p:cNvPr id="9" name="TextBox 8"/>
          <p:cNvSpPr txBox="1"/>
          <p:nvPr/>
        </p:nvSpPr>
        <p:spPr>
          <a:xfrm>
            <a:off x="914400" y="1828800"/>
            <a:ext cx="4846320" cy="4297680"/>
          </a:xfrm>
          <a:prstGeom prst="rect">
            <a:avLst/>
          </a:prstGeom>
          <a:noFill/>
        </p:spPr>
        <p:txBody>
          <a:bodyPr wrap="square">
            <a:spAutoFit/>
          </a:bodyPr>
          <a:lstStyle/>
          <a:p>
            <a:pPr>
              <a:defRPr b="1" sz="1200">
                <a:solidFill>
                  <a:srgbClr val="1E293B"/>
                </a:solidFill>
              </a:defRPr>
            </a:pPr>
            <a:r>
              <a:t>Moving Beyond Isolated Window Testing</a:t>
            </a:r>
          </a:p>
          <a:p>
            <a:pPr>
              <a:defRPr sz="1050">
                <a:solidFill>
                  <a:srgbClr val="0F172A"/>
                </a:solidFill>
              </a:defRPr>
            </a:pPr>
            <a:r>
              <a:t>• The Reality Gap: Testing isolated windows does not reflect reality. In real life, a streaming engine processes continuous overlapping windows.</a:t>
            </a:r>
          </a:p>
          <a:p>
            <a:pPr>
              <a:defRPr sz="1050">
                <a:solidFill>
                  <a:srgbClr val="0F172A"/>
                </a:solidFill>
              </a:defRPr>
            </a:pPr>
            <a:r>
              <a:t>• Binary Fall Detector: Dedicated Binary SVM-RBF (fall vs rest) with Platt (sigmoid) calibration fitted strictly on inner training folds.</a:t>
            </a:r>
          </a:p>
          <a:p>
            <a:pPr>
              <a:defRPr sz="1050">
                <a:solidFill>
                  <a:srgbClr val="0F172A"/>
                </a:solidFill>
              </a:defRPr>
            </a:pPr>
            <a:r>
              <a:t>• Nested Threshold Tuning: Threshold θ (0.30–0.95) and sliding window rule (k-of-n) optimized on inner training LOSO streams.</a:t>
            </a:r>
          </a:p>
          <a:p>
            <a:pPr>
              <a:defRPr sz="1050">
                <a:solidFill>
                  <a:srgbClr val="0F172A"/>
                </a:solidFill>
              </a:defRPr>
            </a:pPr>
            <a:r>
              <a:t>• Adopted Production Rule: Alarm triggered if ≥ 2 of the last 3 windows have P(fall) ≥ 0.50.</a:t>
            </a:r>
          </a:p>
          <a:p>
            <a:pPr>
              <a:defRPr sz="1050">
                <a:solidFill>
                  <a:srgbClr val="0F172A"/>
                </a:solidFill>
              </a:defRPr>
            </a:pPr>
            <a:r>
              <a:t>• Alarm Cooldown: 10-second lockout timer prevents duplicate burst alarms following an initial trigger.</a:t>
            </a:r>
          </a:p>
        </p:txBody>
      </p:sp>
      <p:sp>
        <p:nvSpPr>
          <p:cNvPr id="10" name="Rounded Rectangle 9"/>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353312"/>
            <a:ext cx="4846320" cy="365760"/>
          </a:xfrm>
          <a:prstGeom prst="rect">
            <a:avLst/>
          </a:prstGeom>
          <a:noFill/>
        </p:spPr>
        <p:txBody>
          <a:bodyPr wrap="square">
            <a:spAutoFit/>
          </a:bodyPr>
          <a:lstStyle/>
          <a:p>
            <a:pPr>
              <a:defRPr sz="1300" b="1">
                <a:solidFill>
                  <a:srgbClr val="1E293B"/>
                </a:solidFill>
              </a:defRPr>
            </a:pPr>
            <a:r>
              <a:t>Empirical Fall Chain Performance</a:t>
            </a:r>
          </a:p>
        </p:txBody>
      </p:sp>
      <p:sp>
        <p:nvSpPr>
          <p:cNvPr id="13" name="TextBox 12"/>
          <p:cNvSpPr txBox="1"/>
          <p:nvPr/>
        </p:nvSpPr>
        <p:spPr>
          <a:xfrm>
            <a:off x="6400800" y="1828800"/>
            <a:ext cx="4846320" cy="4297680"/>
          </a:xfrm>
          <a:prstGeom prst="rect">
            <a:avLst/>
          </a:prstGeom>
          <a:noFill/>
        </p:spPr>
        <p:txBody>
          <a:bodyPr wrap="square">
            <a:spAutoFit/>
          </a:bodyPr>
          <a:lstStyle/>
          <a:p>
            <a:pPr>
              <a:defRPr b="1" sz="1200">
                <a:solidFill>
                  <a:srgbClr val="0D9488"/>
                </a:solidFill>
              </a:defRPr>
            </a:pPr>
            <a:r>
              <a:t>Evaluation on 202 Real Continuous Takes</a:t>
            </a:r>
          </a:p>
          <a:p>
            <a:pPr>
              <a:defRPr sz="1050">
                <a:solidFill>
                  <a:srgbClr val="0F172A"/>
                </a:solidFill>
              </a:defRPr>
            </a:pPr>
            <a:r>
              <a:t>• Falls Caught: 21 of 42 falls detected (50.0% take-level detection under strict LOSO).</a:t>
            </a:r>
          </a:p>
          <a:p>
            <a:pPr>
              <a:defRPr sz="1050">
                <a:solidFill>
                  <a:srgbClr val="0F172A"/>
                </a:solidFill>
              </a:defRPr>
            </a:pPr>
            <a:r>
              <a:t>• Look-Alike Rejection: 101 of 109 look-alike takes (sit-downs, stand-ups, picking up objects) correctly rejected without alarm!</a:t>
            </a:r>
          </a:p>
          <a:p>
            <a:pPr>
              <a:defRPr sz="1050">
                <a:solidFill>
                  <a:srgbClr val="0F172A"/>
                </a:solidFill>
              </a:defRPr>
            </a:pPr>
            <a:r>
              <a:t>• Walking False Alarm Rate: 30.3 false alarms per hour of active continuous walking.</a:t>
            </a:r>
          </a:p>
          <a:p>
            <a:pPr>
              <a:defRPr sz="1050">
                <a:solidFill>
                  <a:srgbClr val="0F172A"/>
                </a:solidFill>
              </a:defRPr>
            </a:pPr>
            <a:r>
              <a:t>• Quiet Stationary False Alarms: Just 6.4 false alarms per hour in empty or motionless rooms.</a:t>
            </a:r>
          </a:p>
          <a:p>
            <a:pPr>
              <a:defRPr sz="1050">
                <a:solidFill>
                  <a:srgbClr val="0F172A"/>
                </a:solidFill>
              </a:defRPr>
            </a:pPr>
            <a:r>
              <a:t>• Median Alarm Latency: 1.99 seconds after kinematic ground impact.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FIRMWARE &amp; EMBEDDED SYSTEMS</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Firmware Implementation: COTS ESP32-S3 Real-Time Streaming</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Speaker 4</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53312"/>
            <a:ext cx="4846320" cy="365760"/>
          </a:xfrm>
          <a:prstGeom prst="rect">
            <a:avLst/>
          </a:prstGeom>
          <a:noFill/>
        </p:spPr>
        <p:txBody>
          <a:bodyPr wrap="square">
            <a:spAutoFit/>
          </a:bodyPr>
          <a:lstStyle/>
          <a:p>
            <a:pPr>
              <a:defRPr sz="1300" b="1">
                <a:solidFill>
                  <a:srgbClr val="1E293B"/>
                </a:solidFill>
              </a:defRPr>
            </a:pPr>
            <a:r>
              <a:t>Embedded Architecture Details</a:t>
            </a:r>
          </a:p>
        </p:txBody>
      </p:sp>
      <p:sp>
        <p:nvSpPr>
          <p:cNvPr id="9" name="TextBox 8"/>
          <p:cNvSpPr txBox="1"/>
          <p:nvPr/>
        </p:nvSpPr>
        <p:spPr>
          <a:xfrm>
            <a:off x="914400" y="1828800"/>
            <a:ext cx="4846320" cy="4297680"/>
          </a:xfrm>
          <a:prstGeom prst="rect">
            <a:avLst/>
          </a:prstGeom>
          <a:noFill/>
        </p:spPr>
        <p:txBody>
          <a:bodyPr wrap="square">
            <a:spAutoFit/>
          </a:bodyPr>
          <a:lstStyle/>
          <a:p>
            <a:pPr>
              <a:defRPr b="1" sz="1200">
                <a:solidFill>
                  <a:srgbClr val="1E293B"/>
                </a:solidFill>
              </a:defRPr>
            </a:pPr>
            <a:r>
              <a:t>ESP-IDF v5.1.2 FreeRTOS Implementation</a:t>
            </a:r>
          </a:p>
          <a:p>
            <a:pPr>
              <a:defRPr sz="1050">
                <a:solidFill>
                  <a:srgbClr val="0F172A"/>
                </a:solidFill>
              </a:defRPr>
            </a:pPr>
            <a:r>
              <a:t>• Dual Xtensa LX7 Cores: Core 0 dedicated to Wi-Fi MAC layer and RF baseband; Core 1 handles packet formatting and DMA UART transfer.</a:t>
            </a:r>
          </a:p>
          <a:p>
            <a:pPr>
              <a:defRPr sz="1050">
                <a:solidFill>
                  <a:srgbClr val="0F172A"/>
                </a:solidFill>
              </a:defRPr>
            </a:pPr>
            <a:r>
              <a:t>• Memory Allocation: Zero-copy DMA ring buffer; CSI struct unpacked in microsecond callback to prevent FreeRTOS queue starvation.</a:t>
            </a:r>
          </a:p>
          <a:p>
            <a:pPr>
              <a:defRPr sz="1050">
                <a:solidFill>
                  <a:srgbClr val="0F172A"/>
                </a:solidFill>
              </a:defRPr>
            </a:pPr>
            <a:r>
              <a:t>• Dynamic Baud Rate: High-speed UART streaming at 921,600 baud achieves &lt; 3.2 ms packet transfer latency.</a:t>
            </a:r>
          </a:p>
          <a:p>
            <a:pPr>
              <a:defRPr sz="1050">
                <a:solidFill>
                  <a:srgbClr val="0F172A"/>
                </a:solidFill>
              </a:defRPr>
            </a:pPr>
            <a:r>
              <a:t>• Zero Packet Corruption: Byte-level CRC32 checksum embedded in every binary frame.</a:t>
            </a:r>
          </a:p>
        </p:txBody>
      </p:sp>
      <p:sp>
        <p:nvSpPr>
          <p:cNvPr id="10" name="Rounded Rectangle 9"/>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353312"/>
            <a:ext cx="4846320" cy="365760"/>
          </a:xfrm>
          <a:prstGeom prst="rect">
            <a:avLst/>
          </a:prstGeom>
          <a:noFill/>
        </p:spPr>
        <p:txBody>
          <a:bodyPr wrap="square">
            <a:spAutoFit/>
          </a:bodyPr>
          <a:lstStyle/>
          <a:p>
            <a:pPr>
              <a:defRPr sz="1300" b="1">
                <a:solidFill>
                  <a:srgbClr val="1E293B"/>
                </a:solidFill>
              </a:defRPr>
            </a:pPr>
            <a:r>
              <a:t>Firmware Build Verification (Phase 1)</a:t>
            </a:r>
          </a:p>
        </p:txBody>
      </p:sp>
      <p:sp>
        <p:nvSpPr>
          <p:cNvPr id="13" name="TextBox 12"/>
          <p:cNvSpPr txBox="1"/>
          <p:nvPr/>
        </p:nvSpPr>
        <p:spPr>
          <a:xfrm>
            <a:off x="6400800" y="1828800"/>
            <a:ext cx="4846320" cy="4297680"/>
          </a:xfrm>
          <a:prstGeom prst="rect">
            <a:avLst/>
          </a:prstGeom>
          <a:noFill/>
        </p:spPr>
        <p:txBody>
          <a:bodyPr wrap="square">
            <a:spAutoFit/>
          </a:bodyPr>
          <a:lstStyle/>
          <a:p>
            <a:pPr>
              <a:defRPr b="1" sz="1200">
                <a:solidFill>
                  <a:srgbClr val="0D9488"/>
                </a:solidFill>
              </a:defRPr>
            </a:pPr>
            <a:r>
              <a:t>Cryptographic Reproducibility (results/firmware/)</a:t>
            </a:r>
          </a:p>
          <a:p>
            <a:pPr>
              <a:defRPr sz="1050">
                <a:solidFill>
                  <a:srgbClr val="0F172A"/>
                </a:solidFill>
              </a:defRPr>
            </a:pPr>
            <a:r>
              <a:t>• Git Hash Immutability: Custom firmware locked to git commit tags.</a:t>
            </a:r>
          </a:p>
          <a:p>
            <a:pPr>
              <a:defRPr sz="1050">
                <a:solidFill>
                  <a:srgbClr val="0F172A"/>
                </a:solidFill>
              </a:defRPr>
            </a:pPr>
            <a:r>
              <a:t>• Binary Footprint: Compiled ELF binary size = 892 KB, fits comfortably within 8 MB onboard flash.</a:t>
            </a:r>
          </a:p>
          <a:p>
            <a:pPr>
              <a:defRPr sz="1050">
                <a:solidFill>
                  <a:srgbClr val="0F172A"/>
                </a:solidFill>
              </a:defRPr>
            </a:pPr>
            <a:r>
              <a:t>• Stability Audit: Tested continuously for 8 hours with zero memory leaks, watchdog resets, or dropped frames.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SOFTWARE ARCHITECTURE</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Software Engine: Streaming Ingest, Quality Gates &amp; Web UI</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Speaker 4</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53312"/>
            <a:ext cx="4846320" cy="365760"/>
          </a:xfrm>
          <a:prstGeom prst="rect">
            <a:avLst/>
          </a:prstGeom>
          <a:noFill/>
        </p:spPr>
        <p:txBody>
          <a:bodyPr wrap="square">
            <a:spAutoFit/>
          </a:bodyPr>
          <a:lstStyle/>
          <a:p>
            <a:pPr>
              <a:defRPr sz="1300" b="1">
                <a:solidFill>
                  <a:srgbClr val="1E293B"/>
                </a:solidFill>
              </a:defRPr>
            </a:pPr>
            <a:r>
              <a:t>Real-Time Processing Pipeline</a:t>
            </a:r>
          </a:p>
        </p:txBody>
      </p:sp>
      <p:sp>
        <p:nvSpPr>
          <p:cNvPr id="9" name="TextBox 8"/>
          <p:cNvSpPr txBox="1"/>
          <p:nvPr/>
        </p:nvSpPr>
        <p:spPr>
          <a:xfrm>
            <a:off x="914400" y="1828800"/>
            <a:ext cx="4846320" cy="4297680"/>
          </a:xfrm>
          <a:prstGeom prst="rect">
            <a:avLst/>
          </a:prstGeom>
          <a:noFill/>
        </p:spPr>
        <p:txBody>
          <a:bodyPr wrap="square">
            <a:spAutoFit/>
          </a:bodyPr>
          <a:lstStyle/>
          <a:p>
            <a:pPr>
              <a:defRPr b="1" sz="1200">
                <a:solidFill>
                  <a:srgbClr val="1E293B"/>
                </a:solidFill>
              </a:defRPr>
            </a:pPr>
            <a:r>
              <a:t>app/engine.py Architecture (Decision D-053)</a:t>
            </a:r>
          </a:p>
          <a:p>
            <a:pPr>
              <a:defRPr sz="1050">
                <a:solidFill>
                  <a:srgbClr val="0F172A"/>
                </a:solidFill>
              </a:defRPr>
            </a:pPr>
            <a:r>
              <a:t>• Decoupled Ingest: Ring buffer ingests 200 Hz raw packets; aligns RX1 and RX2 streams by TX sequence counter.</a:t>
            </a:r>
          </a:p>
          <a:p>
            <a:pPr>
              <a:defRPr sz="1050">
                <a:solidFill>
                  <a:srgbClr val="0F172A"/>
                </a:solidFill>
              </a:defRPr>
            </a:pPr>
            <a:r>
              <a:t>• Sliding Window Engine: Emits a 4-second window every 500 ms (0.5 s hop rate).</a:t>
            </a:r>
          </a:p>
          <a:p>
            <a:pPr>
              <a:defRPr sz="1050">
                <a:solidFill>
                  <a:srgbClr val="0F172A"/>
                </a:solidFill>
              </a:defRPr>
            </a:pPr>
            <a:r>
              <a:t>• Quality Gate (D-039): Window dropped if packet loss &gt; 20% or gap &gt; 100 ms.</a:t>
            </a:r>
          </a:p>
          <a:p>
            <a:pPr>
              <a:defRPr sz="1050">
                <a:solidFill>
                  <a:srgbClr val="0F172A"/>
                </a:solidFill>
              </a:defRPr>
            </a:pPr>
            <a:r>
              <a:t>• Inference Cycle: Feature extraction and model inference execute in under 67 ms, easily fitting within the 500 ms cycle budget.</a:t>
            </a:r>
          </a:p>
        </p:txBody>
      </p:sp>
      <p:sp>
        <p:nvSpPr>
          <p:cNvPr id="10" name="Rounded Rectangle 9"/>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353312"/>
            <a:ext cx="4846320" cy="365760"/>
          </a:xfrm>
          <a:prstGeom prst="rect">
            <a:avLst/>
          </a:prstGeom>
          <a:noFill/>
        </p:spPr>
        <p:txBody>
          <a:bodyPr wrap="square">
            <a:spAutoFit/>
          </a:bodyPr>
          <a:lstStyle/>
          <a:p>
            <a:pPr>
              <a:defRPr sz="1300" b="1">
                <a:solidFill>
                  <a:srgbClr val="1E293B"/>
                </a:solidFill>
              </a:defRPr>
            </a:pPr>
            <a:r>
              <a:t>Interactive Monitoring Dashboard</a:t>
            </a:r>
          </a:p>
        </p:txBody>
      </p:sp>
      <p:sp>
        <p:nvSpPr>
          <p:cNvPr id="13" name="TextBox 12"/>
          <p:cNvSpPr txBox="1"/>
          <p:nvPr/>
        </p:nvSpPr>
        <p:spPr>
          <a:xfrm>
            <a:off x="6400800" y="1828800"/>
            <a:ext cx="4846320" cy="4297680"/>
          </a:xfrm>
          <a:prstGeom prst="rect">
            <a:avLst/>
          </a:prstGeom>
          <a:noFill/>
        </p:spPr>
        <p:txBody>
          <a:bodyPr wrap="square">
            <a:spAutoFit/>
          </a:bodyPr>
          <a:lstStyle/>
          <a:p>
            <a:pPr>
              <a:defRPr b="1" sz="1200">
                <a:solidFill>
                  <a:srgbClr val="0D9488"/>
                </a:solidFill>
              </a:defRPr>
            </a:pPr>
            <a:r>
              <a:t>app/dashboard.html &amp; WebSocket API</a:t>
            </a:r>
          </a:p>
          <a:p>
            <a:pPr>
              <a:defRPr sz="1050">
                <a:solidFill>
                  <a:srgbClr val="0F172A"/>
                </a:solidFill>
              </a:defRPr>
            </a:pPr>
            <a:r>
              <a:t>• Real-Time Visualization: Live subcarrier waterfall heatmap, instantaneous Doppler motion energy, and posture state indicator.</a:t>
            </a:r>
          </a:p>
          <a:p>
            <a:pPr>
              <a:defRPr sz="1050">
                <a:solidFill>
                  <a:srgbClr val="0F172A"/>
                </a:solidFill>
              </a:defRPr>
            </a:pPr>
            <a:r>
              <a:t>• Emergency Fall Alert: Visual red banner and audio alarm triggered upon positive fall chain detection.</a:t>
            </a:r>
          </a:p>
          <a:p>
            <a:pPr>
              <a:defRPr sz="1050">
                <a:solidFill>
                  <a:srgbClr val="0F172A"/>
                </a:solidFill>
              </a:defRPr>
            </a:pPr>
            <a:r>
              <a:t>• Zero Cloud Dependence: Entire web server runs locally on the host machine via lightweight Python WebSockets with zero external internet required.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LIVE FIELD TRIAL</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Real-World Deployment: Live Testing in RNSIT Library Hall</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Speaker 4</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53312"/>
            <a:ext cx="4846320" cy="365760"/>
          </a:xfrm>
          <a:prstGeom prst="rect">
            <a:avLst/>
          </a:prstGeom>
          <a:noFill/>
        </p:spPr>
        <p:txBody>
          <a:bodyPr wrap="square">
            <a:spAutoFit/>
          </a:bodyPr>
          <a:lstStyle/>
          <a:p>
            <a:pPr>
              <a:defRPr sz="1300" b="1">
                <a:solidFill>
                  <a:srgbClr val="1E293B"/>
                </a:solidFill>
              </a:defRPr>
            </a:pPr>
            <a:r>
              <a:t>Physical Experimental Setup</a:t>
            </a:r>
          </a:p>
        </p:txBody>
      </p:sp>
      <p:sp>
        <p:nvSpPr>
          <p:cNvPr id="9" name="TextBox 8"/>
          <p:cNvSpPr txBox="1"/>
          <p:nvPr/>
        </p:nvSpPr>
        <p:spPr>
          <a:xfrm>
            <a:off x="914400" y="1828800"/>
            <a:ext cx="4846320" cy="4297680"/>
          </a:xfrm>
          <a:prstGeom prst="rect">
            <a:avLst/>
          </a:prstGeom>
          <a:noFill/>
        </p:spPr>
        <p:txBody>
          <a:bodyPr wrap="square">
            <a:spAutoFit/>
          </a:bodyPr>
          <a:lstStyle/>
          <a:p>
            <a:pPr>
              <a:defRPr b="1" sz="1200">
                <a:solidFill>
                  <a:srgbClr val="1E293B"/>
                </a:solidFill>
              </a:defRPr>
            </a:pPr>
            <a:r>
              <a:t>October 23, 2026 Live Deployment</a:t>
            </a:r>
          </a:p>
          <a:p>
            <a:pPr>
              <a:defRPr sz="1050">
                <a:solidFill>
                  <a:srgbClr val="0F172A"/>
                </a:solidFill>
              </a:defRPr>
            </a:pPr>
            <a:r>
              <a:t>• Environment: RNSIT Central Library Hall (Dimensions: 14.2 m × 9.8 m).</a:t>
            </a:r>
          </a:p>
          <a:p>
            <a:pPr>
              <a:defRPr sz="1050">
                <a:solidFill>
                  <a:srgbClr val="0F172A"/>
                </a:solidFill>
              </a:defRPr>
            </a:pPr>
            <a:r>
              <a:t>• Hardware Deployment: 1 TX node, 2 RX nodes mounted on tripods at 1.2 m height.</a:t>
            </a:r>
          </a:p>
          <a:p>
            <a:pPr>
              <a:defRPr sz="1050">
                <a:solidFill>
                  <a:srgbClr val="0F172A"/>
                </a:solidFill>
              </a:defRPr>
            </a:pPr>
            <a:r>
              <a:t>• Chairs &amp; Walking Paths: Chair A (adjacent to RX1), Chair B (adjacent to RX2), Spot M (mattress for simulated falls), Paths 1 and 2.</a:t>
            </a:r>
          </a:p>
          <a:p>
            <a:pPr>
              <a:defRPr sz="1050">
                <a:solidFill>
                  <a:srgbClr val="0F172A"/>
                </a:solidFill>
              </a:defRPr>
            </a:pPr>
            <a:r>
              <a:t>• Ambient RF Interference: 18 active university Wi-Fi Access Points operating across 2.4 GHz channels 1, 6, and 11.</a:t>
            </a:r>
          </a:p>
        </p:txBody>
      </p:sp>
      <p:sp>
        <p:nvSpPr>
          <p:cNvPr id="10" name="Rounded Rectangle 9"/>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353312"/>
            <a:ext cx="4846320" cy="365760"/>
          </a:xfrm>
          <a:prstGeom prst="rect">
            <a:avLst/>
          </a:prstGeom>
          <a:noFill/>
        </p:spPr>
        <p:txBody>
          <a:bodyPr wrap="square">
            <a:spAutoFit/>
          </a:bodyPr>
          <a:lstStyle/>
          <a:p>
            <a:pPr>
              <a:defRPr sz="1300" b="1">
                <a:solidFill>
                  <a:srgbClr val="1E293B"/>
                </a:solidFill>
              </a:defRPr>
            </a:pPr>
            <a:r>
              <a:t>Pre-Deployment Verification</a:t>
            </a:r>
          </a:p>
        </p:txBody>
      </p:sp>
      <p:sp>
        <p:nvSpPr>
          <p:cNvPr id="13" name="TextBox 12"/>
          <p:cNvSpPr txBox="1"/>
          <p:nvPr/>
        </p:nvSpPr>
        <p:spPr>
          <a:xfrm>
            <a:off x="6400800" y="1828800"/>
            <a:ext cx="4846320" cy="4297680"/>
          </a:xfrm>
          <a:prstGeom prst="rect">
            <a:avLst/>
          </a:prstGeom>
          <a:noFill/>
        </p:spPr>
        <p:txBody>
          <a:bodyPr wrap="square">
            <a:spAutoFit/>
          </a:bodyPr>
          <a:lstStyle/>
          <a:p>
            <a:pPr>
              <a:defRPr b="1" sz="1200">
                <a:solidFill>
                  <a:srgbClr val="0D9488"/>
                </a:solidFill>
              </a:defRPr>
            </a:pPr>
            <a:r>
              <a:t>Phase 5 System Checks</a:t>
            </a:r>
          </a:p>
          <a:p>
            <a:pPr>
              <a:defRPr sz="1050">
                <a:solidFill>
                  <a:srgbClr val="0F172A"/>
                </a:solidFill>
              </a:defRPr>
            </a:pPr>
            <a:r>
              <a:t>• 60-Second Environment Baseline (D-055): Verified empty-room dynamic stability prior to testing.</a:t>
            </a:r>
          </a:p>
          <a:p>
            <a:pPr>
              <a:defRPr sz="1050">
                <a:solidFill>
                  <a:srgbClr val="0F172A"/>
                </a:solidFill>
              </a:defRPr>
            </a:pPr>
            <a:r>
              <a:t>• Decoupled Process Architecture (D-057): Engine and web dashboard executed in isolated OS processes to prevent UI rendering from blocking signal ingestion.</a:t>
            </a:r>
          </a:p>
          <a:p>
            <a:pPr>
              <a:defRPr sz="1050">
                <a:solidFill>
                  <a:srgbClr val="0F172A"/>
                </a:solidFill>
              </a:defRPr>
            </a:pPr>
            <a:r>
              <a:t>• Bit-Identical Consistency (D-054): Replaying 12 recorded takes through the live engine produced bit-identical features and model predictions compared to offline code.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LIVE TROUBLESHOOTING</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Engineering Under Pressure: The RF Hardware Incident</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Speaker 4</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53312"/>
            <a:ext cx="4846320" cy="365760"/>
          </a:xfrm>
          <a:prstGeom prst="rect">
            <a:avLst/>
          </a:prstGeom>
          <a:noFill/>
        </p:spPr>
        <p:txBody>
          <a:bodyPr wrap="square">
            <a:spAutoFit/>
          </a:bodyPr>
          <a:lstStyle/>
          <a:p>
            <a:pPr>
              <a:defRPr sz="1300" b="1">
                <a:solidFill>
                  <a:srgbClr val="1E293B"/>
                </a:solidFill>
              </a:defRPr>
            </a:pPr>
            <a:r>
              <a:t>The Live Failure Incident</a:t>
            </a:r>
          </a:p>
        </p:txBody>
      </p:sp>
      <p:sp>
        <p:nvSpPr>
          <p:cNvPr id="9" name="TextBox 8"/>
          <p:cNvSpPr txBox="1"/>
          <p:nvPr/>
        </p:nvSpPr>
        <p:spPr>
          <a:xfrm>
            <a:off x="914400" y="1828800"/>
            <a:ext cx="4846320" cy="4297680"/>
          </a:xfrm>
          <a:prstGeom prst="rect">
            <a:avLst/>
          </a:prstGeom>
          <a:noFill/>
        </p:spPr>
        <p:txBody>
          <a:bodyPr wrap="square">
            <a:spAutoFit/>
          </a:bodyPr>
          <a:lstStyle/>
          <a:p>
            <a:pPr>
              <a:defRPr b="1" sz="1200">
                <a:solidFill>
                  <a:srgbClr val="1E293B"/>
                </a:solidFill>
              </a:defRPr>
            </a:pPr>
            <a:r>
              <a:t>Trial 1 Breakdown (11:34 AM)</a:t>
            </a:r>
          </a:p>
          <a:p>
            <a:pPr>
              <a:defRPr sz="1050">
                <a:solidFill>
                  <a:srgbClr val="0F172A"/>
                </a:solidFill>
              </a:defRPr>
            </a:pPr>
            <a:r>
              <a:t>• Symptom: During initial live walking tests, motion energy on RX2 collapsed to near zero; walking along Path 2 produced no Doppler response.</a:t>
            </a:r>
          </a:p>
          <a:p>
            <a:pPr>
              <a:defRPr sz="1050">
                <a:solidFill>
                  <a:srgbClr val="0F172A"/>
                </a:solidFill>
              </a:defRPr>
            </a:pPr>
            <a:r>
              <a:t>• Initial Suspicion: Operator suspected software buffer corruption or firmware crash.</a:t>
            </a:r>
          </a:p>
          <a:p>
            <a:pPr>
              <a:defRPr sz="1050">
                <a:solidFill>
                  <a:srgbClr val="0F172A"/>
                </a:solidFill>
              </a:defRPr>
            </a:pPr>
            <a:r>
              <a:t>• Diagnostic Inspection: Receiver 2 continued to report normal RSSI (-58 dBm) and valid packet counts at 200 Hz! Software diagnostics reported 'HEALTHY'.</a:t>
            </a:r>
          </a:p>
        </p:txBody>
      </p:sp>
      <p:sp>
        <p:nvSpPr>
          <p:cNvPr id="10" name="Rounded Rectangle 9"/>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353312"/>
            <a:ext cx="4846320" cy="365760"/>
          </a:xfrm>
          <a:prstGeom prst="rect">
            <a:avLst/>
          </a:prstGeom>
          <a:noFill/>
        </p:spPr>
        <p:txBody>
          <a:bodyPr wrap="square">
            <a:spAutoFit/>
          </a:bodyPr>
          <a:lstStyle/>
          <a:p>
            <a:pPr>
              <a:defRPr sz="1300" b="1">
                <a:solidFill>
                  <a:srgbClr val="1E293B"/>
                </a:solidFill>
              </a:defRPr>
            </a:pPr>
            <a:r>
              <a:t>Root Cause &amp; Physical Repair</a:t>
            </a:r>
          </a:p>
        </p:txBody>
      </p:sp>
      <p:sp>
        <p:nvSpPr>
          <p:cNvPr id="13" name="TextBox 12"/>
          <p:cNvSpPr txBox="1"/>
          <p:nvPr/>
        </p:nvSpPr>
        <p:spPr>
          <a:xfrm>
            <a:off x="6400800" y="1828800"/>
            <a:ext cx="4846320" cy="4297680"/>
          </a:xfrm>
          <a:prstGeom prst="rect">
            <a:avLst/>
          </a:prstGeom>
          <a:noFill/>
        </p:spPr>
        <p:txBody>
          <a:bodyPr wrap="square">
            <a:spAutoFit/>
          </a:bodyPr>
          <a:lstStyle/>
          <a:p>
            <a:pPr>
              <a:defRPr b="1" sz="1200">
                <a:solidFill>
                  <a:srgbClr val="0D9488"/>
                </a:solidFill>
              </a:defRPr>
            </a:pPr>
            <a:r>
              <a:t>The U.FL Connector Failure (Phase 5 Incident Report)</a:t>
            </a:r>
          </a:p>
          <a:p>
            <a:pPr>
              <a:defRPr sz="1050">
                <a:solidFill>
                  <a:srgbClr val="0F172A"/>
                </a:solidFill>
              </a:defRPr>
            </a:pPr>
            <a:r>
              <a:t>• Physical Root Cause: The micro U.FL IPEX connector connecting the external dipole antenna to the ESP32-S3 PCB had partially unseated during tripod transport.</a:t>
            </a:r>
          </a:p>
          <a:p>
            <a:pPr>
              <a:defRPr sz="1050">
                <a:solidFill>
                  <a:srgbClr val="0F172A"/>
                </a:solidFill>
              </a:defRPr>
            </a:pPr>
            <a:r>
              <a:t>• Physics of Failure: The loose connector acted as a capacitive attenuator—allowing low-frequency RSSI carrier energy through, but destroying high-frequency phase coherence and multipath Doppler reflections!</a:t>
            </a:r>
          </a:p>
          <a:p>
            <a:pPr>
              <a:defRPr sz="1050">
                <a:solidFill>
                  <a:srgbClr val="0F172A"/>
                </a:solidFill>
              </a:defRPr>
            </a:pPr>
            <a:r>
              <a:t>• The Repair: Re-seated and mechanically secured the U.FL connector with kapton tape.</a:t>
            </a:r>
          </a:p>
          <a:p>
            <a:pPr>
              <a:defRPr sz="1050">
                <a:solidFill>
                  <a:srgbClr val="0F172A"/>
                </a:solidFill>
              </a:defRPr>
            </a:pPr>
            <a:r>
              <a:t>• Post-Repair Restoration: Phase circular std immediately dropped from 2.8 rad to 0.14 rad; dynamic motion energy surged back to expected levels.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LIVE PERFORMANCE</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Live Library Trial Results: Continuous 14-Minute Evaluation</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Speaker 4</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53312"/>
            <a:ext cx="4846320" cy="365760"/>
          </a:xfrm>
          <a:prstGeom prst="rect">
            <a:avLst/>
          </a:prstGeom>
          <a:noFill/>
        </p:spPr>
        <p:txBody>
          <a:bodyPr wrap="square">
            <a:spAutoFit/>
          </a:bodyPr>
          <a:lstStyle/>
          <a:p>
            <a:pPr>
              <a:defRPr sz="1300" b="1">
                <a:solidFill>
                  <a:srgbClr val="1E293B"/>
                </a:solidFill>
              </a:defRPr>
            </a:pPr>
            <a:r>
              <a:t>Continuous Trial Execution</a:t>
            </a:r>
          </a:p>
        </p:txBody>
      </p:sp>
      <p:sp>
        <p:nvSpPr>
          <p:cNvPr id="9" name="TextBox 8"/>
          <p:cNvSpPr txBox="1"/>
          <p:nvPr/>
        </p:nvSpPr>
        <p:spPr>
          <a:xfrm>
            <a:off x="914400" y="1828800"/>
            <a:ext cx="4846320" cy="4297680"/>
          </a:xfrm>
          <a:prstGeom prst="rect">
            <a:avLst/>
          </a:prstGeom>
          <a:noFill/>
        </p:spPr>
        <p:txBody>
          <a:bodyPr wrap="square">
            <a:spAutoFit/>
          </a:bodyPr>
          <a:lstStyle/>
          <a:p>
            <a:pPr>
              <a:defRPr b="1" sz="1200">
                <a:solidFill>
                  <a:srgbClr val="1E293B"/>
                </a:solidFill>
              </a:defRPr>
            </a:pPr>
            <a:r>
              <a:t>1658 Inference Cycles (14 Minutes)</a:t>
            </a:r>
          </a:p>
          <a:p>
            <a:pPr>
              <a:defRPr sz="1050">
                <a:solidFill>
                  <a:srgbClr val="0F172A"/>
                </a:solidFill>
              </a:defRPr>
            </a:pPr>
            <a:r>
              <a:t>• System Health: Ran continuously for 14 minutes (1658 inference cycles) with zero crashes.</a:t>
            </a:r>
          </a:p>
          <a:p>
            <a:pPr>
              <a:defRPr sz="1050">
                <a:solidFill>
                  <a:srgbClr val="0F172A"/>
                </a:solidFill>
              </a:defRPr>
            </a:pPr>
            <a:r>
              <a:t>• Walk Across Link (Path 2, Horizontal): 37 of 42 windows correctly identified as Walk (88.1% recall)! Triggered 2 false fall alarms during fast walking (P = 0.57, 0.50).</a:t>
            </a:r>
          </a:p>
          <a:p>
            <a:pPr>
              <a:defRPr sz="1050">
                <a:solidFill>
                  <a:srgbClr val="0F172A"/>
                </a:solidFill>
              </a:defRPr>
            </a:pPr>
            <a:r>
              <a:t>• Walk Along Link (Path 1, Vertical): 6 of 51 windows correct (mostly called 'empty'; reveals Doppler blind zone).</a:t>
            </a:r>
          </a:p>
          <a:p>
            <a:pPr>
              <a:defRPr sz="1050">
                <a:solidFill>
                  <a:srgbClr val="0F172A"/>
                </a:solidFill>
              </a:defRPr>
            </a:pPr>
            <a:r>
              <a:t>• Simulated Mattress Fall: Event detected in 2 windows, but max P(fall) = 0.28 (failed to cross θ = 0.50 threshold -&gt; NO ALARM).</a:t>
            </a:r>
          </a:p>
        </p:txBody>
      </p:sp>
      <p:sp>
        <p:nvSpPr>
          <p:cNvPr id="10" name="Rounded Rectangle 9"/>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353312"/>
            <a:ext cx="4846320" cy="365760"/>
          </a:xfrm>
          <a:prstGeom prst="rect">
            <a:avLst/>
          </a:prstGeom>
          <a:noFill/>
        </p:spPr>
        <p:txBody>
          <a:bodyPr wrap="square">
            <a:spAutoFit/>
          </a:bodyPr>
          <a:lstStyle/>
          <a:p>
            <a:pPr>
              <a:defRPr sz="1300" b="1">
                <a:solidFill>
                  <a:srgbClr val="1E293B"/>
                </a:solidFill>
              </a:defRPr>
            </a:pPr>
            <a:r>
              <a:t>Analytical Assessment of Live Reality</a:t>
            </a:r>
          </a:p>
        </p:txBody>
      </p:sp>
      <p:sp>
        <p:nvSpPr>
          <p:cNvPr id="13" name="TextBox 12"/>
          <p:cNvSpPr txBox="1"/>
          <p:nvPr/>
        </p:nvSpPr>
        <p:spPr>
          <a:xfrm>
            <a:off x="6400800" y="1828800"/>
            <a:ext cx="4846320" cy="4297680"/>
          </a:xfrm>
          <a:prstGeom prst="rect">
            <a:avLst/>
          </a:prstGeom>
          <a:noFill/>
        </p:spPr>
        <p:txBody>
          <a:bodyPr wrap="square">
            <a:spAutoFit/>
          </a:bodyPr>
          <a:lstStyle/>
          <a:p>
            <a:pPr>
              <a:defRPr b="1" sz="1200">
                <a:solidFill>
                  <a:srgbClr val="0D9488"/>
                </a:solidFill>
              </a:defRPr>
            </a:pPr>
            <a:r>
              <a:t>Why Live Diverged from LOSO</a:t>
            </a:r>
          </a:p>
          <a:p>
            <a:pPr>
              <a:defRPr sz="1050">
                <a:solidFill>
                  <a:srgbClr val="0F172A"/>
                </a:solidFill>
              </a:defRPr>
            </a:pPr>
            <a:r>
              <a:t>• 1. Presence Fragility: Baseline environmental drift between days caused empty rooms to occasionally register as occupied, impacting state transitions.</a:t>
            </a:r>
          </a:p>
          <a:p>
            <a:pPr>
              <a:defRPr sz="1050">
                <a:solidFill>
                  <a:srgbClr val="0F172A"/>
                </a:solidFill>
              </a:defRPr>
            </a:pPr>
            <a:r>
              <a:t>• 2. Doppler Geometric Blind Spot: Moving along the line of sight (Path 1) produces minimal path-length changes, blinding the single-axis link.</a:t>
            </a:r>
          </a:p>
          <a:p>
            <a:pPr>
              <a:defRPr sz="1050">
                <a:solidFill>
                  <a:srgbClr val="0F172A"/>
                </a:solidFill>
              </a:defRPr>
            </a:pPr>
            <a:r>
              <a:t>• 3. RF Co-Channel Traffic: Campus library APs operating on Channel 11 caused burst packet loss up to 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LIMITATIONS &amp; INTEGRITY</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Systemic Limitations &amp; Open Engineering Challenges</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Speaker 4</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53312"/>
            <a:ext cx="4846320" cy="365760"/>
          </a:xfrm>
          <a:prstGeom prst="rect">
            <a:avLst/>
          </a:prstGeom>
          <a:noFill/>
        </p:spPr>
        <p:txBody>
          <a:bodyPr wrap="square">
            <a:spAutoFit/>
          </a:bodyPr>
          <a:lstStyle/>
          <a:p>
            <a:pPr>
              <a:defRPr sz="1300" b="1">
                <a:solidFill>
                  <a:srgbClr val="1E293B"/>
                </a:solidFill>
              </a:defRPr>
            </a:pPr>
            <a:r>
              <a:t>Scope Limitations (Mandatory Compliance)</a:t>
            </a:r>
          </a:p>
        </p:txBody>
      </p:sp>
      <p:sp>
        <p:nvSpPr>
          <p:cNvPr id="9" name="TextBox 8"/>
          <p:cNvSpPr txBox="1"/>
          <p:nvPr/>
        </p:nvSpPr>
        <p:spPr>
          <a:xfrm>
            <a:off x="914400" y="1828800"/>
            <a:ext cx="4846320" cy="4297680"/>
          </a:xfrm>
          <a:prstGeom prst="rect">
            <a:avLst/>
          </a:prstGeom>
          <a:noFill/>
        </p:spPr>
        <p:txBody>
          <a:bodyPr wrap="square">
            <a:spAutoFit/>
          </a:bodyPr>
          <a:lstStyle/>
          <a:p>
            <a:pPr>
              <a:defRPr b="1" sz="1200">
                <a:solidFill>
                  <a:srgbClr val="1E293B"/>
                </a:solidFill>
              </a:defRPr>
            </a:pPr>
            <a:r>
              <a:t>Boundary Conditions of Study</a:t>
            </a:r>
          </a:p>
          <a:p>
            <a:pPr>
              <a:defRPr sz="1050">
                <a:solidFill>
                  <a:srgbClr val="0F172A"/>
                </a:solidFill>
              </a:defRPr>
            </a:pPr>
            <a:r>
              <a:t>• 1. Confined Physical Domain: All experimental data gathered in a single room (library hall) with fixed furniture.</a:t>
            </a:r>
          </a:p>
          <a:p>
            <a:pPr>
              <a:defRPr sz="1050">
                <a:solidFill>
                  <a:srgbClr val="0F172A"/>
                </a:solidFill>
              </a:defRPr>
            </a:pPr>
            <a:r>
              <a:t>• 2. Demographic Homogeneity: 6 healthy university volunteers (young adults); gait kinematics and body mass do not reflect frail geriatric demographics.</a:t>
            </a:r>
          </a:p>
          <a:p>
            <a:pPr>
              <a:defRPr sz="1050">
                <a:solidFill>
                  <a:srgbClr val="0F172A"/>
                </a:solidFill>
              </a:defRPr>
            </a:pPr>
            <a:r>
              <a:t>• 3. Simulated Fall Constraints: Falls performed onto a high-density mattress at a single spot (Spot M); cannot prove fall detection elsewhere in the room.</a:t>
            </a:r>
          </a:p>
          <a:p>
            <a:pPr>
              <a:defRPr sz="1050">
                <a:solidFill>
                  <a:srgbClr val="0F172A"/>
                </a:solidFill>
              </a:defRPr>
            </a:pPr>
            <a:r>
              <a:t>• 4. Ground Truth Proxies: No multi-camera optical motion-capture ground truth; timing relies on audio countdowns and DSP energy onset proxies.</a:t>
            </a:r>
          </a:p>
          <a:p>
            <a:pPr>
              <a:defRPr sz="1050">
                <a:solidFill>
                  <a:srgbClr val="0F172A"/>
                </a:solidFill>
              </a:defRPr>
            </a:pPr>
            <a:r>
              <a:t>• 5. Non-Clinical Device: Prototype is an academic proof-of-concept, not a certified life-safety device.</a:t>
            </a:r>
          </a:p>
        </p:txBody>
      </p:sp>
      <p:sp>
        <p:nvSpPr>
          <p:cNvPr id="10" name="Rounded Rectangle 9"/>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353312"/>
            <a:ext cx="4846320" cy="365760"/>
          </a:xfrm>
          <a:prstGeom prst="rect">
            <a:avLst/>
          </a:prstGeom>
          <a:noFill/>
        </p:spPr>
        <p:txBody>
          <a:bodyPr wrap="square">
            <a:spAutoFit/>
          </a:bodyPr>
          <a:lstStyle/>
          <a:p>
            <a:pPr>
              <a:defRPr sz="1300" b="1">
                <a:solidFill>
                  <a:srgbClr val="1E293B"/>
                </a:solidFill>
              </a:defRPr>
            </a:pPr>
            <a:r>
              <a:t>Core Technical Deficiencies</a:t>
            </a:r>
          </a:p>
        </p:txBody>
      </p:sp>
      <p:sp>
        <p:nvSpPr>
          <p:cNvPr id="13" name="TextBox 12"/>
          <p:cNvSpPr txBox="1"/>
          <p:nvPr/>
        </p:nvSpPr>
        <p:spPr>
          <a:xfrm>
            <a:off x="6400800" y="1828800"/>
            <a:ext cx="4846320" cy="4297680"/>
          </a:xfrm>
          <a:prstGeom prst="rect">
            <a:avLst/>
          </a:prstGeom>
          <a:noFill/>
        </p:spPr>
        <p:txBody>
          <a:bodyPr wrap="square">
            <a:spAutoFit/>
          </a:bodyPr>
          <a:lstStyle/>
          <a:p>
            <a:pPr>
              <a:defRPr b="1" sz="1200">
                <a:solidFill>
                  <a:srgbClr val="0D9488"/>
                </a:solidFill>
              </a:defRPr>
            </a:pPr>
            <a:r>
              <a:t>Engineering Bottlenecks</a:t>
            </a:r>
          </a:p>
          <a:p>
            <a:pPr>
              <a:defRPr sz="1050">
                <a:solidFill>
                  <a:srgbClr val="0F172A"/>
                </a:solidFill>
              </a:defRPr>
            </a:pPr>
            <a:r>
              <a:t>• Presence Baseline Drift: Static profile shifts cause the presence classifier to misidentify empty rooms as occupied.</a:t>
            </a:r>
          </a:p>
          <a:p>
            <a:pPr>
              <a:defRPr sz="1050">
                <a:solidFill>
                  <a:srgbClr val="0F172A"/>
                </a:solidFill>
              </a:defRPr>
            </a:pPr>
            <a:r>
              <a:t>• Directional Blind Zones: Single-axis LoS links struggle to detect motion parallel to the radio beam.</a:t>
            </a:r>
          </a:p>
          <a:p>
            <a:pPr>
              <a:defRPr sz="1050">
                <a:solidFill>
                  <a:srgbClr val="0F172A"/>
                </a:solidFill>
              </a:defRPr>
            </a:pPr>
            <a:r>
              <a:t>• Hardware RF Vulnerability: U.FL connector mating can silently blind Doppler sensitivity without triggering an RSSI drop.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7315200" cy="274320"/>
          </a:xfrm>
          <a:prstGeom prst="rect">
            <a:avLst/>
          </a:prstGeom>
          <a:noFill/>
        </p:spPr>
        <p:txBody>
          <a:bodyPr wrap="square">
            <a:spAutoFit/>
          </a:bodyPr>
          <a:lstStyle/>
          <a:p>
            <a:pPr>
              <a:defRPr sz="1000" b="1">
                <a:solidFill>
                  <a:srgbClr val="0D9488"/>
                </a:solidFill>
              </a:defRPr>
            </a:pPr>
            <a:r>
              <a:t>CONCLUSION &amp; DEFENSE</a:t>
            </a:r>
          </a:p>
        </p:txBody>
      </p:sp>
      <p:sp>
        <p:nvSpPr>
          <p:cNvPr id="4" name="TextBox 3"/>
          <p:cNvSpPr txBox="1"/>
          <p:nvPr/>
        </p:nvSpPr>
        <p:spPr>
          <a:xfrm>
            <a:off x="731520" y="347472"/>
            <a:ext cx="8412480" cy="594360"/>
          </a:xfrm>
          <a:prstGeom prst="rect">
            <a:avLst/>
          </a:prstGeom>
          <a:noFill/>
        </p:spPr>
        <p:txBody>
          <a:bodyPr wrap="square">
            <a:spAutoFit/>
          </a:bodyPr>
          <a:lstStyle/>
          <a:p>
            <a:pPr>
              <a:defRPr sz="2000" b="1">
                <a:solidFill>
                  <a:srgbClr val="FFFFFF"/>
                </a:solidFill>
              </a:defRPr>
            </a:pPr>
            <a:r>
              <a:t>Academic Conclusion, Future Roadmap &amp; Viva Voce Defense</a:t>
            </a:r>
          </a:p>
        </p:txBody>
      </p:sp>
      <p:sp>
        <p:nvSpPr>
          <p:cNvPr id="5" name="Rounded Rectangle 4"/>
          <p:cNvSpPr/>
          <p:nvPr/>
        </p:nvSpPr>
        <p:spPr>
          <a:xfrm>
            <a:off x="9601200" y="292608"/>
            <a:ext cx="2011680" cy="4572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Speaker 4</a:t>
            </a:r>
          </a:p>
        </p:txBody>
      </p:sp>
      <p:sp>
        <p:nvSpPr>
          <p:cNvPr id="6" name="Rounded Rectangle 5"/>
          <p:cNvSpPr/>
          <p:nvPr/>
        </p:nvSpPr>
        <p:spPr>
          <a:xfrm>
            <a:off x="7315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53312"/>
            <a:ext cx="4846320" cy="365760"/>
          </a:xfrm>
          <a:prstGeom prst="rect">
            <a:avLst/>
          </a:prstGeom>
          <a:noFill/>
        </p:spPr>
        <p:txBody>
          <a:bodyPr wrap="square">
            <a:spAutoFit/>
          </a:bodyPr>
          <a:lstStyle/>
          <a:p>
            <a:pPr>
              <a:defRPr sz="1300" b="1">
                <a:solidFill>
                  <a:srgbClr val="1E293B"/>
                </a:solidFill>
              </a:defRPr>
            </a:pPr>
            <a:r>
              <a:t>Key Project Achievements</a:t>
            </a:r>
          </a:p>
        </p:txBody>
      </p:sp>
      <p:sp>
        <p:nvSpPr>
          <p:cNvPr id="9" name="TextBox 8"/>
          <p:cNvSpPr txBox="1"/>
          <p:nvPr/>
        </p:nvSpPr>
        <p:spPr>
          <a:xfrm>
            <a:off x="914400" y="1828800"/>
            <a:ext cx="4846320" cy="4297680"/>
          </a:xfrm>
          <a:prstGeom prst="rect">
            <a:avLst/>
          </a:prstGeom>
          <a:noFill/>
        </p:spPr>
        <p:txBody>
          <a:bodyPr wrap="square">
            <a:spAutoFit/>
          </a:bodyPr>
          <a:lstStyle/>
          <a:p>
            <a:pPr>
              <a:defRPr b="1" sz="1200">
                <a:solidFill>
                  <a:srgbClr val="1E293B"/>
                </a:solidFill>
              </a:defRPr>
            </a:pPr>
            <a:r>
              <a:t>Summary of Deliverables</a:t>
            </a:r>
          </a:p>
          <a:p>
            <a:pPr>
              <a:defRPr sz="1050">
                <a:solidFill>
                  <a:srgbClr val="0F172A"/>
                </a:solidFill>
              </a:defRPr>
            </a:pPr>
            <a:r>
              <a:t>• • Built End-to-End Testbed: Low-cost COTS ESP32-S3 transceivers capturing 114 subcarriers at 200 Hz with dual-node sequence sync.</a:t>
            </a:r>
          </a:p>
          <a:p>
            <a:pPr>
              <a:defRPr sz="1050">
                <a:solidFill>
                  <a:srgbClr val="0F172A"/>
                </a:solidFill>
              </a:defRPr>
            </a:pPr>
            <a:r>
              <a:t>• • Rigorous DSP Pipeline: Created anti-aliased, gain-normalized, phase-sanitized 32-channel dual-receiver representation.</a:t>
            </a:r>
          </a:p>
          <a:p>
            <a:pPr>
              <a:defRPr sz="1050">
                <a:solidFill>
                  <a:srgbClr val="0F172A"/>
                </a:solidFill>
              </a:defRPr>
            </a:pPr>
            <a:r>
              <a:t>• • SE-TCN Deep Learning Champion: Engineered Squeeze-and-Excitation Channel Attention and Focal Loss, doubling fall sensitivity (49.93%) over vanilla deep models and achieving 87.03% presence accuracy.</a:t>
            </a:r>
          </a:p>
          <a:p>
            <a:pPr>
              <a:defRPr sz="1050">
                <a:solidFill>
                  <a:srgbClr val="0F172A"/>
                </a:solidFill>
              </a:defRPr>
            </a:pPr>
            <a:r>
              <a:t>• • Dual-Metric Validation: Evaluated under strict 6-Fold LOSO cross-validation, reporting both Overall Accuracy and Balanced Macro-F1.</a:t>
            </a:r>
          </a:p>
          <a:p>
            <a:pPr>
              <a:defRPr sz="1050">
                <a:solidFill>
                  <a:srgbClr val="0F172A"/>
                </a:solidFill>
              </a:defRPr>
            </a:pPr>
            <a:r>
              <a:t>• • 100% Reproducible: Fully automated scripts rebuild features, train models, and verify 801 raw file checksums in 11 minutes.</a:t>
            </a:r>
          </a:p>
        </p:txBody>
      </p:sp>
      <p:sp>
        <p:nvSpPr>
          <p:cNvPr id="10" name="Rounded Rectangle 9"/>
          <p:cNvSpPr/>
          <p:nvPr/>
        </p:nvSpPr>
        <p:spPr>
          <a:xfrm>
            <a:off x="6217920" y="128016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1280160"/>
            <a:ext cx="5212080" cy="502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353312"/>
            <a:ext cx="4846320" cy="365760"/>
          </a:xfrm>
          <a:prstGeom prst="rect">
            <a:avLst/>
          </a:prstGeom>
          <a:noFill/>
        </p:spPr>
        <p:txBody>
          <a:bodyPr wrap="square">
            <a:spAutoFit/>
          </a:bodyPr>
          <a:lstStyle/>
          <a:p>
            <a:pPr>
              <a:defRPr sz="1300" b="1">
                <a:solidFill>
                  <a:srgbClr val="1E293B"/>
                </a:solidFill>
              </a:defRPr>
            </a:pPr>
            <a:r>
              <a:t>Future Technical Roadmap</a:t>
            </a:r>
          </a:p>
        </p:txBody>
      </p:sp>
      <p:sp>
        <p:nvSpPr>
          <p:cNvPr id="13" name="TextBox 12"/>
          <p:cNvSpPr txBox="1"/>
          <p:nvPr/>
        </p:nvSpPr>
        <p:spPr>
          <a:xfrm>
            <a:off x="6400800" y="1828800"/>
            <a:ext cx="4846320" cy="4297680"/>
          </a:xfrm>
          <a:prstGeom prst="rect">
            <a:avLst/>
          </a:prstGeom>
          <a:noFill/>
        </p:spPr>
        <p:txBody>
          <a:bodyPr wrap="square">
            <a:spAutoFit/>
          </a:bodyPr>
          <a:lstStyle/>
          <a:p>
            <a:pPr>
              <a:defRPr b="1" sz="1200">
                <a:solidFill>
                  <a:srgbClr val="0D9488"/>
                </a:solidFill>
              </a:defRPr>
            </a:pPr>
            <a:r>
              <a:t>Next-Generation Enhancements</a:t>
            </a:r>
          </a:p>
          <a:p>
            <a:pPr>
              <a:defRPr sz="1050">
                <a:solidFill>
                  <a:srgbClr val="0F172A"/>
                </a:solidFill>
              </a:defRPr>
            </a:pPr>
            <a:r>
              <a:t>• 1. Guided Site Calibration: 60-second automated empty-room baseline capture on startup (docs/analysis/calibration_proposal.md).</a:t>
            </a:r>
          </a:p>
          <a:p>
            <a:pPr>
              <a:defRPr sz="1050">
                <a:solidFill>
                  <a:srgbClr val="0F172A"/>
                </a:solidFill>
              </a:defRPr>
            </a:pPr>
            <a:r>
              <a:t>• 2. Multi-Angle Spatial Diversity: Add a 3rd receiver at 90° azimuth to eliminate geometric Doppler blind spots.</a:t>
            </a:r>
          </a:p>
          <a:p>
            <a:pPr>
              <a:defRPr sz="1050">
                <a:solidFill>
                  <a:srgbClr val="0F172A"/>
                </a:solidFill>
              </a:defRPr>
            </a:pPr>
            <a:r>
              <a:t>• 3. Automated Hardware Health Check: Implement preflight loopback tests to detect unseated RF connectors.</a:t>
            </a:r>
          </a:p>
          <a:p>
            <a:pPr>
              <a:defRPr sz="1050">
                <a:solidFill>
                  <a:srgbClr val="0F172A"/>
                </a:solidFill>
              </a:defRPr>
            </a:pPr>
            <a:r>
              <a:t>• Thank you! We now welcome questions from the examination committee.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