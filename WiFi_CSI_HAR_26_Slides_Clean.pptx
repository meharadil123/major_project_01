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2902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examiners, guide, and faculty members. Welcome to our final-year major project presentation: 'Device-Free Human Activity Recognition and Fall Detection Using WiFi Channel State Information'.</a:t>
            </a:r>
          </a:p>
          <a:p>
            <a:r>
              <a:t>Our team comprises Md Mehar Adil, Mohith Gowda, Nihar Gowda, and Sujal L G from the Department of Electronics and Communication Engineering at RNS Institute of Technology, under the expert guidance of Dr. Leena Chandrashekar and review of Dr. Srikanth G N.</a:t>
            </a:r>
          </a:p>
          <a:p>
            <a:r>
              <a:t>In this work, we present an end-to-end, privacy-preserving sensing system built entirely with low-cost commodity microcontrollers, operating without cameras or wearables, evaluated under rigorous subject-independent standards.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Every year, one out of three adults over age 65 experiences a fall, with delayed medical assistance dramatically worsening mortality. While cameras offer high fidelity, they represent a severe privacy invasion in bedrooms and restrooms where the majority of falls occur. Furthermore, wearables suffer from severe compliance fatigue—elderly users frequently forget to charge or wear them.</a:t>
            </a:r>
          </a:p>
          <a:p>
            <a:r>
              <a:t>Our proposed solution utilizes ambient Wi-Fi Channel State Information. RF signals permeate indoor space, bouncing off human bodies. By measuring how these multipath reflections modulate the physical channel, we achieve device-free, 100% privacy-preserving fall and activity detection at ultra-low hardware cost.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Let us examine the RF physical principles. In OFDM communications, data is transmitted across orthogonal subcarriers. The channel frequency response H is estimated from the Long Training Field.</a:t>
            </a:r>
          </a:p>
          <a:p>
            <a:r>
              <a:t>H represents the vector sum of static room reflections plus dynamic human reflections. Because the wavelength of 2.4 GHz Wi-Fi is approximately 12.2 cm, moving a limb by just 3 cm alters the round-trip reflection by half a wavelength, completely flipping the interference from constructive to destructive. Unlike RSSI, which is a crude, single-number summary prone to severe fading, CSI gives us 114 separate subcarrier measurements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Moving to our physical hardware architecture. We selected COTS ESP32-S3 microcontrollers due to their native USB-Serial-JTAG and dual-core capabilities.</a:t>
            </a:r>
          </a:p>
          <a:p>
            <a:r>
              <a:t>Our transmitter uses an ESP-WROOM-32U paired with an 8 dBi directional patch antenna mounted at 0.9 m, beaming energy across the room.</a:t>
            </a:r>
          </a:p>
          <a:p>
            <a:r>
              <a:t>On the receiving side, we deploy two ESP32-S3 boards with 6 dBi omni whip antennas at different elevations—RX1 at 1.0 m and RX2 at 0.5 m.</a:t>
            </a:r>
          </a:p>
          <a:p>
            <a:r>
              <a:t>The testbed was established in our college library hall. The mattress for simulated falls was placed at zone M, chairs were placed at spots A, B, and C, and two distinct walking trajectories were marked: Path 1 along the radio link, and Path 2 bisecting across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1: On the firmware layer, stability is paramount. We compiled custom ESP-IDF v5.5.5 firmware. We locked the PHY layer to 802.11n HT40 on Channel 11 with fixed MCS0 modulation and Long Guard Interval, transmitting connectionless broadcast packets at precisely 200 Hz via a hardware timer.</a:t>
            </a:r>
          </a:p>
          <a:p>
            <a:r>
              <a:t>To stream this high-speed data across USB to the host, we engineered Wire Protocol v2. Packets are framed with sync words 0xA5 0x5A and guarded by CRC-16 checksums. In our raw data audit of 250 binary files, we verified exactly zero CRC errors, proving robust, lossless serial ingestion at 2 Megabaud.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I am Speaker 2, and I will cover data acquisition and signal processing.</a:t>
            </a:r>
          </a:p>
          <a:p>
            <a:r>
              <a:t>To ensure clean data, we designed a disciplined recording protocol. Each event take lasted 10 seconds, synchronized by an automated speech countdown: 3 seconds of pre-cue stillness, an audible 'GO' command, the transition, and 4 seconds of post-action settling. For safety, all falls were performed onto an impact mattress.</a:t>
            </a:r>
          </a:p>
          <a:p>
            <a:r>
              <a:t>Crucially, during bench testing, we made a vital discovery: leaving the laptop's own Wi-Fi enabled caused massive 41.5% packet loss on our receiver due to co-channel radio contention. Under Decision D-032, we enforced strict RF hygiene—shutting down laptop Wi-Fi and Bluetooth and enforcing airplane mode on phones, instantly slashing packet loss down to 1–4%.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Our curated dataset comprises 202 takes and over 800 files, spanning 6 volunteers and 8 distinct activities plus empty room takes. </a:t>
            </a:r>
          </a:p>
          <a:p>
            <a:r>
              <a:t>In Phase 0, we conducted a rigorous read-only cryptographic audit of every raw file. We found that morning takes for S1 through S4 and afternoon takes for S5 and S6 were completely intact. </a:t>
            </a:r>
          </a:p>
          <a:p>
            <a:r>
              <a:t>However, because the transmitter was realigned between sessions, the static channel profile shifted by 3.4 to 4.4 dB RMS between morning and afternoon. This means S5 and S6 serve as true cross-session evaluation folds, providing an honest test of whether models can handle environmental shifts.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Now let us examine our digital signal processing pipeline. First, we verified the active subcarrier architecture on our hardware. While the theoretical 40 MHz FFT contains 128 bins, physical energy is transmitted strictly across 114 active subcarriers—bins -58 to -2 and +2 to +58—with DC and guard bands remaining null.</a:t>
            </a:r>
          </a:p>
          <a:p>
            <a:r>
              <a:t>Next, packets from RX1 and RX2 are synchronized using the TX sequence counter. Any missing packets are linearly interpolated in the complex phasor domain. Importantly, our diagnostic analysis in Decision D-039 showed that a rigid 10% packet loss gate discarded 28% of valid windows due to momentary body shadowing; relaxing this gate to 20% dropped rejections to 3.9% while preserving signal fidelity.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To prepare the signal for feature extraction, two critical DSP stages were implemented. First, because human motion does not exceed 35 Hz Doppler frequencies, we passed the 200 Hz signal through a 27-tap anti-aliasing FIR filter and decimated it to 100 Hz, removing high-frequency noise without distortion.</a:t>
            </a:r>
          </a:p>
          <a:p>
            <a:r>
              <a:t>Second, we discovered that the ESP32 internal Automatic Gain Control caused abrupt 6.1 dB amplitude drops across consecutive packets! This was a hardware scaling artifact. We resolved it by applying per-packet mean normalization, completely removing the artificial step discontinuities while banning the low-scale packet fraction from being used as a feature.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Raw Wi-Fi phase is notoriously corrupted by hardware synchronization errors, appearing as pure random noise with a circular standard deviation of 2.82 radians.</a:t>
            </a:r>
          </a:p>
          <a:p>
            <a:r>
              <a:t>To extract physical path-length changes, we built a two-stage phase sanitizer under Decision D-036. We first unwrap the phase across the 114 subcarriers, and then perform least-squares linear detrending on every packet to subtract the random slope and offset.</a:t>
            </a:r>
          </a:p>
          <a:p>
            <a:r>
              <a:t>This mathematical sanitization reduced the phase noise floor to just 0.14 radians, allowing us to capture fine-grained human chest and limb movements.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This slide highlights our most critical methodological contribution: discovering and tackling the Position Confound under Decision D-024.</a:t>
            </a:r>
          </a:p>
          <a:p>
            <a:r>
              <a:t>In any indoor environment, activities are physically tied to furniture. A human body sitting at Chair A shadows Receiver 1, creating a unique static frequency attenuation. If you feed raw amplitudes or RSSI into a machine learning model, it achieves 95% accuracy—not by recognizing the physical action of sitting, but by memorizing the location of Chair A!</a:t>
            </a:r>
          </a:p>
          <a:p>
            <a:r>
              <a:t>To prevent this artificial inflation, we bifurcated our feature space, stripping static levels out of our event classifiers and forcing them to train on dynamic Doppler motion alone.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2: Our feature space, version f2, contains 83 mathematically defined features extracted per 4-second window.</a:t>
            </a:r>
          </a:p>
          <a:p>
            <a:r>
              <a:t>Thirty-three features represent static spatial characteristics, such as subcarrier band averages and RSSI spatial differences.</a:t>
            </a:r>
          </a:p>
          <a:p>
            <a:r>
              <a:t>Fifty features represent pure dynamic kinematics: temporal standard deviations, 0.25-second sliding motion energy, FFT Doppler bandpowers isolating walking strides from high-frequency fall impacts, subcarrier coherence, and amplitude-weighted phase dynamics.</a:t>
            </a:r>
          </a:p>
          <a:p>
            <a:r>
              <a:t>This feature set captures the full temporal, spectral, spatial, and phase profile of human movements.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I am Speaker 3, and I will present our modeling benchmarks, optimization, and fall alarm chain.</a:t>
            </a:r>
          </a:p>
          <a:p>
            <a:r>
              <a:t>In machine learning research, how you evaluate determines whether your results are real or an illusion. Random 80/20 train-test splits suffer from fatal data leakage because windows from the same person end up on both sides of the split.</a:t>
            </a:r>
          </a:p>
          <a:p>
            <a:r>
              <a:t>We enforced strict 6-Fold Leave-One-Subject-Out cross-validation. When evaluating on Subject 1, all data from Subject 1 is completely locked away. Furthermore, all feature scaling and hyperparameter grids were tuned using nested cross-validation strictly inside the remaining training subjects, guaranteeing zero test set contamination.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Choosing the time window duration is a critical engineering decision. Under Decision D-046, we formulated a pre-registered optimization rule: compute the average macro-F1 across all three tasks under 2-second, 3-second, and 4-second windows.</a:t>
            </a:r>
          </a:p>
          <a:p>
            <a:r>
              <a:t>The benchmark yielded 0.533 for 2 seconds, 0.582 for 3 seconds, and a winning 0.603 for 4 seconds.</a:t>
            </a:r>
          </a:p>
          <a:p>
            <a:r>
              <a:t>Physically, this makes complete sense: a fall is not an instantaneous spike; it is a kinetic sequence comprising loss of balance, descent, ground impact, and subsequent stillness. A 4-second window captures this complete kinetic narrative, providing the classifiers with both the impact and post-fall stillness.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Slide 15 presents our Track A classical machine learning benchmarks across all 6 folds on 4-second windows.</a:t>
            </a:r>
          </a:p>
          <a:p>
            <a:r>
              <a:t>On the 5-class event task, SVM with an RBF kernel achieved the highest classical macro-F1 of 0.539 with a fall recall of 55.2%.</a:t>
            </a:r>
          </a:p>
          <a:p>
            <a:r>
              <a:t>On the 4-class postural state task, Extra Trees achieved 0.572 macro-F1, outperforming standard Random Forests.</a:t>
            </a:r>
          </a:p>
          <a:p>
            <a:r>
              <a:t>For presence detection, Logistic Regression achieved 0.698 macro-F1 with balanced 85.5% sensitivity and 82.8% specificity.</a:t>
            </a:r>
          </a:p>
          <a:p>
            <a:r>
              <a:t>Notice that across afternoon folds S5 and S6, SVM-RBF maintained steady F1-scores of 0.595 and 0.520, confirming that dynamic features transfer across sessions.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We also evaluated two advanced paradigms: Track B MiniRocket and Track C Deep Learning.</a:t>
            </a:r>
          </a:p>
          <a:p>
            <a:r>
              <a:t>MiniRocket generated 10,000 random convolutional features directly from subcarrier bands, achieving 0.572 macro-F1 on events. However, MiniRocket suffered from lower fall recall (43.4%), produced uncalibrated linear scores, and required 326 ms of single-window latency on the laptop CPU.</a:t>
            </a:r>
          </a:p>
          <a:p>
            <a:r>
              <a:t>In Track C, we benchmarked 10 deep architectures including ResNets, LSTMs, TCNs, and Transformers. Shockingly, the best deep network, a CNN-BiLSTM, achieved only 0.344 macro-F1, trailing classical SVMs by nearly 20%.</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Slide 17 provides an honest post-mortem on why deep learning failed. Examining our loss curves, training loss plummeted to 0.2, but validation loss diverged upwards beginning at epoch 3.</a:t>
            </a:r>
          </a:p>
          <a:p>
            <a:r>
              <a:t>Why? In Wi-Fi sensing, 2400 windows across 6 people is small data. Deep neural networks with 100,000 parameters have enough capacity to memorize the exact multipath reflections of individual subjects. When evaluated on an unseen subject, their representations collapsed.</a:t>
            </a:r>
          </a:p>
          <a:p>
            <a:r>
              <a:t>Physics-grounded, handcrafted features with max-margin SVM classifiers provide the inductive bias necessary to generalize across human bodies on small datasets.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At Gate 4, we established our final production models under Decision D-050. Our pre-fixed automated selection rule initially nominated MiniRocket for Events and Presence. However, we explicitly overruled it in favor of SVM-RBF and Logistic Regression for four concrete engineering reasons:</a:t>
            </a:r>
          </a:p>
          <a:p>
            <a:r>
              <a:t>First, MiniRocket sacrificed fall detection sensitivity (43% vs 55% for SVM).</a:t>
            </a:r>
          </a:p>
          <a:p>
            <a:r>
              <a:t>Second, MiniRocket outputs uncalibrated numbers, whereas an emergency alarm requires calibrated probabilities.</a:t>
            </a:r>
          </a:p>
          <a:p>
            <a:r>
              <a:t>Third, MiniRocket required 326 ms of compute per window on our CPU, whereas SVM predicts in under 1 millisecond.</a:t>
            </a:r>
          </a:p>
          <a:p>
            <a:r>
              <a:t>Finally, Logistic Regression provided rock-solid cross-subject presence stability, avoiding the collapse MiniRocket suffered on Subjects 3 and 4.</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Testing isolated windows does not simulate a real-world emergency alarm. Under Decision D-051, we engineered a complete continuous streaming fall alarm chain.</a:t>
            </a:r>
          </a:p>
          <a:p>
            <a:r>
              <a:t>We trained a dedicated binary SVM-RBF and applied Platt calibration strictly on inner training subjects to output true probabilities.</a:t>
            </a:r>
          </a:p>
          <a:p>
            <a:r>
              <a:t>Using inner cross-validation, we optimized the decision logic: an alarm sounds if at least 2 out of the last 3 consecutive windows have P(fall) ≥ 0.50, backed by a 10-second cooldown timer.</a:t>
            </a:r>
          </a:p>
          <a:p>
            <a:r>
              <a:t>Furthermore, under Decision D-054, we proved that our live streaming engine and offline training code produce bit-identical numbers across 378 real windows, eliminating train-serve skew.</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Slide 20 presents our stream evaluation across all 202 takes.</a:t>
            </a:r>
          </a:p>
          <a:p>
            <a:r>
              <a:t>Our calibrated binary chain caught 21 of 42 simulated falls (50%), improving upon the 5-class baseline of 18 falls.</a:t>
            </a:r>
          </a:p>
          <a:p>
            <a:r>
              <a:t>Crucially, look-alike false alarms were limited to 7.3% (8 out of 109 takes), with zero false alarms during bend-and-pick actions. Walking false alarms were reduced from 45 to 30 alarms per hour, with a rapid detection latency of 1.99 seconds.</a:t>
            </a:r>
          </a:p>
          <a:p>
            <a:r>
              <a:t>Our honest conclusion: the system catches half of simulated falls and resists everyday look-alikes, but walking false alarms and missed falls confirm that further engineering is required before clinical use.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3: To understand the physical drivers of our system, we conducted extensive ablations.</a:t>
            </a:r>
          </a:p>
          <a:p>
            <a:r>
              <a:t>First: Dual receivers are mandatory. Removing either receiver drops event macro-F1 from 0.539 down to 0.38 and 0.40. Having two spatial links at different heights is essential to overcome body shadowing.</a:t>
            </a:r>
          </a:p>
          <a:p>
            <a:r>
              <a:t>Second: Motion energy and Doppler bandpowers are the primary predictive drivers; stripping them causes the largest performance drops.</a:t>
            </a:r>
          </a:p>
          <a:p>
            <a:r>
              <a:t>Third: Static features alone collapse to 0.353 F1, proving once again that static multipath cannot recognize dynamic human kinematics.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I am Speaker 4, and I will present our live deployment, hardware troubleshooting, and conclusions.</a:t>
            </a:r>
          </a:p>
          <a:p>
            <a:r>
              <a:t>In Phase 5, we deployed our real-time streaming engine. In our first test, the system lagged terribly, with step intervals ballooning to 1.45 seconds! We diagnosed the issue: Streamlit's web browser rendering was fighting our signal processing code for Python's Global Interpreter Lock.</a:t>
            </a:r>
          </a:p>
          <a:p>
            <a:r>
              <a:t>Under Decision D-057, we refactored the engine into a separate, dedicated native process communicating with the dashboard over a local IPC socket. This locked our live inference cycle to exactly 500 milliseconds. We also added safety guards that immediately flag degraded signal if a sensor unplugs, preventing stale predictions.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Slide 23 presents an extraordinary real-world engineering investigation from our morning session in the library.</a:t>
            </a:r>
          </a:p>
          <a:p>
            <a:r>
              <a:t>When we powered up the system, walking across the room was called 'empty' and the fall triggered zero alarm! We verified our code—it was flawless. We then inspected the hardware signals and noticed that Receiver 2 had an RSSI 4.5 dB too high, yet its motion features were stuck at the zero-th percentile—it was completely motion-blind!</a:t>
            </a:r>
          </a:p>
          <a:p>
            <a:r>
              <a:t>To isolate the fault, we executed a systematic antenna swap test. Instantly, Receiver 2 recovered, recognizing walks 47 out of 52 times. The root cause was an unseated U.FL micro-connector on the circuit board. Reseating it firmly restored full sensitivity.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Following the connector repair, we conducted our final 14-minute continuous live trial in the library hall across 1658 consecutive inference cycles.</a:t>
            </a:r>
          </a:p>
          <a:p>
            <a:r>
              <a:t>The results demonstrated both triumphs and real-world limits:</a:t>
            </a:r>
          </a:p>
          <a:p>
            <a:r>
              <a:t>When walking across the link on Path 2, the system recognized walking in 37 out of 42 windows—an 88% success rate, alongside 2 false alarms during fast walking.</a:t>
            </a:r>
          </a:p>
          <a:p>
            <a:r>
              <a:t>However, walking along the link on Path 1 was mostly missed, revealing a geometric Doppler blind zone.</a:t>
            </a:r>
          </a:p>
          <a:p>
            <a:r>
              <a:t>Furthermore, while the fall was detected in 2 windows, its probability peaked at 0.28, failing to cross the 0.50 threshold to sound the alarm. Ambient library Wi-Fi interference and presence baseline drift reduced live sensitivity relative to offline benchmarks.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In keeping with our commitment to engineering integrity, Slide 25 outlines the explicit boundaries of our study.</a:t>
            </a:r>
          </a:p>
          <a:p>
            <a:r>
              <a:t>First: Our dataset comes from a single library room, one geometry, and 6 healthy young volunteers performing simulated falls onto a mattress at Spot M. It is not clinically validated.</a:t>
            </a:r>
          </a:p>
          <a:p>
            <a:r>
              <a:t>Second: We discovered real technical bottlenecks: directional blind zones along the radio link, presence baseline drift across different days, and the physical vulnerability of micro-RF connectors.</a:t>
            </a:r>
          </a:p>
          <a:p>
            <a:r>
              <a:t>Acknowledging these limitations openly is essential for credible engineering research.</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4: In conclusion, we have designed, implemented, and validated a complete device-free human activity recognition and fall detection platform. We proved that classical machine learning with physics-grounded features outperforms complex deep neural networks on small CSI datasets, while maintaining 100% privacy at $15 hardware cost.</a:t>
            </a:r>
          </a:p>
          <a:p>
            <a:r>
              <a:t>Our entire codebase is fully reproducible in 11 minutes from raw bytes.</a:t>
            </a:r>
          </a:p>
          <a:p>
            <a:r>
              <a:t>We thank our guide, Dr. Leena Chandrashekar, reviewer Dr. Srikanth G N, and the Department of ECE. We are now open for viva voce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548640"/>
            <a:ext cx="10332720" cy="457200"/>
          </a:xfrm>
          <a:prstGeom prst="rect">
            <a:avLst/>
          </a:prstGeom>
          <a:noFill/>
        </p:spPr>
        <p:txBody>
          <a:bodyPr wrap="none">
            <a:spAutoFit/>
          </a:bodyPr>
          <a:lstStyle/>
          <a:p>
            <a:pPr>
              <a:defRPr sz="1300" b="1">
                <a:solidFill>
                  <a:srgbClr val="0D9488"/>
                </a:solidFill>
              </a:defRPr>
            </a:pPr>
            <a:r>
              <a:t>RNS INSTITUTE OF TECHNOLOGY, BENGALURU — DEPARTMENT OF ECE</a:t>
            </a:r>
          </a:p>
        </p:txBody>
      </p:sp>
      <p:sp>
        <p:nvSpPr>
          <p:cNvPr id="4" name="TextBox 3"/>
          <p:cNvSpPr txBox="1"/>
          <p:nvPr/>
        </p:nvSpPr>
        <p:spPr>
          <a:xfrm>
            <a:off x="914400" y="1005840"/>
            <a:ext cx="10332720" cy="1645920"/>
          </a:xfrm>
          <a:prstGeom prst="rect">
            <a:avLst/>
          </a:prstGeom>
          <a:noFill/>
        </p:spPr>
        <p:txBody>
          <a:bodyPr wrap="square">
            <a:spAutoFit/>
          </a:bodyPr>
          <a:lstStyle/>
          <a:p>
            <a:pPr>
              <a:defRPr sz="2800" b="1">
                <a:solidFill>
                  <a:srgbClr val="FFFFFF"/>
                </a:solidFill>
              </a:defRPr>
            </a:pPr>
            <a:r>
              <a:t>Device-Free Human Activity Recognition &amp; Fall Detection Using WiFi Channel State Information</a:t>
            </a:r>
          </a:p>
          <a:p>
            <a:pPr>
              <a:defRPr sz="1500">
                <a:solidFill>
                  <a:srgbClr val="64748B"/>
                </a:solidFill>
              </a:defRPr>
            </a:pPr>
            <a:r>
              <a:t>COTS ESP32-S3 Hardware • 200 Hz HT40 Link • Rigorous LOSO Cross-Validation • Real-Time Engine</a:t>
            </a:r>
          </a:p>
        </p:txBody>
      </p:sp>
      <p:sp>
        <p:nvSpPr>
          <p:cNvPr id="5" name="Rounded Rectangle 4"/>
          <p:cNvSpPr/>
          <p:nvPr/>
        </p:nvSpPr>
        <p:spPr>
          <a:xfrm>
            <a:off x="914400" y="2926080"/>
            <a:ext cx="6217920" cy="3291840"/>
          </a:xfrm>
          <a:prstGeom prst="roundRect">
            <a:avLst/>
          </a:prstGeom>
          <a:solidFill>
            <a:srgbClr val="1E293B"/>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3108960"/>
            <a:ext cx="5669280" cy="2926080"/>
          </a:xfrm>
          <a:prstGeom prst="rect">
            <a:avLst/>
          </a:prstGeom>
          <a:noFill/>
        </p:spPr>
        <p:txBody>
          <a:bodyPr wrap="none">
            <a:spAutoFit/>
          </a:bodyPr>
          <a:lstStyle/>
          <a:p>
            <a:pPr>
              <a:defRPr sz="1300" b="1">
                <a:solidFill>
                  <a:srgbClr val="0D9488"/>
                </a:solidFill>
              </a:defRPr>
            </a:pPr>
            <a:r>
              <a:t>PROJECT GROUP 10 (2026-2027)</a:t>
            </a:r>
          </a:p>
          <a:p>
            <a:pPr>
              <a:defRPr sz="1300">
                <a:solidFill>
                  <a:srgbClr val="FFFFFF"/>
                </a:solidFill>
              </a:defRPr>
            </a:pPr>
            <a:r>
              <a:t>• Md Mehar Adil D H  [1RN23EC094]</a:t>
            </a:r>
          </a:p>
          <a:p>
            <a:pPr>
              <a:defRPr sz="1300">
                <a:solidFill>
                  <a:srgbClr val="FFFFFF"/>
                </a:solidFill>
              </a:defRPr>
            </a:pPr>
            <a:r>
              <a:t>• Mohith Gowda M  [1RN23EC095]</a:t>
            </a:r>
          </a:p>
          <a:p>
            <a:pPr>
              <a:defRPr sz="1300">
                <a:solidFill>
                  <a:srgbClr val="FFFFFF"/>
                </a:solidFill>
              </a:defRPr>
            </a:pPr>
            <a:r>
              <a:t>• Nihar Gowda  [1RN23EC106]</a:t>
            </a:r>
          </a:p>
          <a:p>
            <a:pPr>
              <a:defRPr sz="1300">
                <a:solidFill>
                  <a:srgbClr val="FFFFFF"/>
                </a:solidFill>
              </a:defRPr>
            </a:pPr>
            <a:r>
              <a:t>• Sujal L G  [1RN23EC169]</a:t>
            </a:r>
          </a:p>
        </p:txBody>
      </p:sp>
      <p:sp>
        <p:nvSpPr>
          <p:cNvPr id="7" name="Rounded Rectangle 6"/>
          <p:cNvSpPr/>
          <p:nvPr/>
        </p:nvSpPr>
        <p:spPr>
          <a:xfrm>
            <a:off x="7498079" y="2926080"/>
            <a:ext cx="3749039" cy="3291840"/>
          </a:xfrm>
          <a:prstGeom prst="roundRect">
            <a:avLst/>
          </a:prstGeom>
          <a:solidFill>
            <a:srgbClr val="1E293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3108960"/>
            <a:ext cx="3383280" cy="2926080"/>
          </a:xfrm>
          <a:prstGeom prst="rect">
            <a:avLst/>
          </a:prstGeom>
          <a:noFill/>
        </p:spPr>
        <p:txBody>
          <a:bodyPr wrap="none">
            <a:spAutoFit/>
          </a:bodyPr>
          <a:lstStyle/>
          <a:p>
            <a:pPr>
              <a:defRPr sz="1300" b="1">
                <a:solidFill>
                  <a:srgbClr val="0D9488"/>
                </a:solidFill>
              </a:defRPr>
            </a:pPr>
            <a:r>
              <a:t>ACADEMIC ADVISORY</a:t>
            </a:r>
          </a:p>
          <a:p>
            <a:br/>
            <a:r>
              <a:t>Project Guide:</a:t>
            </a:r>
          </a:p>
          <a:p>
            <a:pPr>
              <a:defRPr sz="1300" b="1">
                <a:solidFill>
                  <a:srgbClr val="FFFFFF"/>
                </a:solidFill>
              </a:defRPr>
            </a:pPr>
            <a:r>
              <a:t>Dr. Leena Chandrashekar</a:t>
            </a:r>
          </a:p>
          <a:p>
            <a:pPr>
              <a:defRPr sz="1000">
                <a:solidFill>
                  <a:srgbClr val="64748B"/>
                </a:solidFill>
              </a:defRPr>
            </a:pPr>
            <a:r>
              <a:t>Associate Professor, Dept. of ECE</a:t>
            </a:r>
          </a:p>
          <a:p>
            <a:br/>
            <a:r>
              <a:t>Project Reviewer:</a:t>
            </a:r>
          </a:p>
          <a:p>
            <a:pPr>
              <a:defRPr sz="1300" b="1">
                <a:solidFill>
                  <a:srgbClr val="FFFFFF"/>
                </a:solidFill>
              </a:defRPr>
            </a:pPr>
            <a:r>
              <a:t>Dr. Srikanth G N</a:t>
            </a:r>
          </a:p>
          <a:p>
            <a:pPr>
              <a:defRPr sz="1000">
                <a:solidFill>
                  <a:srgbClr val="64748B"/>
                </a:solidFill>
              </a:defRPr>
            </a:pPr>
            <a:r>
              <a:t>Associate Professor, Dept. of ECE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INTRODUCTION &amp; CONTEXT</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Motivation &amp; Problem Statement: The Case for WiFi CSI</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1</a:t>
            </a:r>
          </a:p>
        </p:txBody>
      </p:sp>
      <p:sp>
        <p:nvSpPr>
          <p:cNvPr id="6" name="Rounded Rectangle 5"/>
          <p:cNvSpPr/>
          <p:nvPr/>
        </p:nvSpPr>
        <p:spPr>
          <a:xfrm>
            <a:off x="731520" y="1280160"/>
            <a:ext cx="329184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2926080" cy="365760"/>
          </a:xfrm>
          <a:prstGeom prst="rect">
            <a:avLst/>
          </a:prstGeom>
          <a:noFill/>
        </p:spPr>
        <p:txBody>
          <a:bodyPr wrap="square">
            <a:spAutoFit/>
          </a:bodyPr>
          <a:lstStyle/>
          <a:p>
            <a:pPr>
              <a:defRPr sz="1300" b="1">
                <a:solidFill>
                  <a:srgbClr val="1E293B"/>
                </a:solidFill>
              </a:defRPr>
            </a:pPr>
            <a:r>
              <a:t>1. Camera-Based Vision Systems</a:t>
            </a:r>
          </a:p>
        </p:txBody>
      </p:sp>
      <p:sp>
        <p:nvSpPr>
          <p:cNvPr id="8" name="TextBox 7"/>
          <p:cNvSpPr txBox="1"/>
          <p:nvPr/>
        </p:nvSpPr>
        <p:spPr>
          <a:xfrm>
            <a:off x="914400" y="1828800"/>
            <a:ext cx="2926080" cy="4297680"/>
          </a:xfrm>
          <a:prstGeom prst="rect">
            <a:avLst/>
          </a:prstGeom>
          <a:noFill/>
        </p:spPr>
        <p:txBody>
          <a:bodyPr wrap="square">
            <a:spAutoFit/>
          </a:bodyPr>
          <a:lstStyle/>
          <a:p>
            <a:pPr>
              <a:defRPr sz="1200" b="1">
                <a:solidFill>
                  <a:srgbClr val="E11D48"/>
                </a:solidFill>
              </a:defRPr>
            </a:pPr>
            <a:r>
              <a:t>Major Drawbacks:</a:t>
            </a:r>
          </a:p>
          <a:p>
            <a:pPr>
              <a:defRPr sz="1050"/>
            </a:pPr>
            <a:r>
              <a:t>• Severe privacy invasion in private domestic spaces (bathrooms, bedrooms).</a:t>
            </a:r>
          </a:p>
          <a:p>
            <a:pPr>
              <a:defRPr sz="1050"/>
            </a:pPr>
            <a:r>
              <a:t>• Strict line-of-sight requirement; completely blocked by walls and smoke.</a:t>
            </a:r>
          </a:p>
          <a:p>
            <a:pPr>
              <a:defRPr sz="1050"/>
            </a:pPr>
            <a:r>
              <a:t>• Fails in low-light, darkness, or intense optical glare.</a:t>
            </a:r>
          </a:p>
          <a:p>
            <a:pPr>
              <a:defRPr sz="1050"/>
            </a:pPr>
            <a:r>
              <a:t>• High compute bandwidth required for continuous high-res video streaming.</a:t>
            </a:r>
          </a:p>
        </p:txBody>
      </p:sp>
      <p:sp>
        <p:nvSpPr>
          <p:cNvPr id="9" name="Rounded Rectangle 8"/>
          <p:cNvSpPr/>
          <p:nvPr/>
        </p:nvSpPr>
        <p:spPr>
          <a:xfrm>
            <a:off x="4389120" y="1280160"/>
            <a:ext cx="329184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417319"/>
            <a:ext cx="2926080" cy="365760"/>
          </a:xfrm>
          <a:prstGeom prst="rect">
            <a:avLst/>
          </a:prstGeom>
          <a:noFill/>
        </p:spPr>
        <p:txBody>
          <a:bodyPr wrap="square">
            <a:spAutoFit/>
          </a:bodyPr>
          <a:lstStyle/>
          <a:p>
            <a:pPr>
              <a:defRPr sz="1300" b="1">
                <a:solidFill>
                  <a:srgbClr val="1E293B"/>
                </a:solidFill>
              </a:defRPr>
            </a:pPr>
            <a:r>
              <a:t>2. Wearable Sensor Nodes</a:t>
            </a:r>
          </a:p>
        </p:txBody>
      </p:sp>
      <p:sp>
        <p:nvSpPr>
          <p:cNvPr id="11" name="TextBox 10"/>
          <p:cNvSpPr txBox="1"/>
          <p:nvPr/>
        </p:nvSpPr>
        <p:spPr>
          <a:xfrm>
            <a:off x="4572000" y="1828800"/>
            <a:ext cx="2926080" cy="4297680"/>
          </a:xfrm>
          <a:prstGeom prst="rect">
            <a:avLst/>
          </a:prstGeom>
          <a:noFill/>
        </p:spPr>
        <p:txBody>
          <a:bodyPr wrap="square">
            <a:spAutoFit/>
          </a:bodyPr>
          <a:lstStyle/>
          <a:p>
            <a:pPr>
              <a:defRPr sz="1200" b="1">
                <a:solidFill>
                  <a:srgbClr val="E11D48"/>
                </a:solidFill>
              </a:defRPr>
            </a:pPr>
            <a:r>
              <a:t>Major Drawbacks:</a:t>
            </a:r>
          </a:p>
          <a:p>
            <a:pPr>
              <a:defRPr sz="1050"/>
            </a:pPr>
            <a:r>
              <a:t>• Requires active user compliance and routine battery replenishment.</a:t>
            </a:r>
          </a:p>
          <a:p>
            <a:pPr>
              <a:defRPr sz="1050"/>
            </a:pPr>
            <a:r>
              <a:t>• Elderly adults and dementia patients frequently forget or remove devices.</a:t>
            </a:r>
          </a:p>
          <a:p>
            <a:pPr>
              <a:defRPr sz="1050"/>
            </a:pPr>
            <a:r>
              <a:t>• Removed during sleep or bathing (where over 60% of senior falls occur!).</a:t>
            </a:r>
          </a:p>
          <a:p>
            <a:pPr>
              <a:defRPr sz="1050"/>
            </a:pPr>
            <a:r>
              <a:t>• Skin irritation, discomfort, and risk of loss/damage.</a:t>
            </a:r>
          </a:p>
        </p:txBody>
      </p:sp>
      <p:sp>
        <p:nvSpPr>
          <p:cNvPr id="12" name="Rounded Rectangle 11"/>
          <p:cNvSpPr/>
          <p:nvPr/>
        </p:nvSpPr>
        <p:spPr>
          <a:xfrm>
            <a:off x="8046720" y="1280160"/>
            <a:ext cx="3383280" cy="512064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0" y="1417319"/>
            <a:ext cx="3017520" cy="365760"/>
          </a:xfrm>
          <a:prstGeom prst="rect">
            <a:avLst/>
          </a:prstGeom>
          <a:noFill/>
        </p:spPr>
        <p:txBody>
          <a:bodyPr wrap="square">
            <a:spAutoFit/>
          </a:bodyPr>
          <a:lstStyle/>
          <a:p>
            <a:pPr>
              <a:defRPr sz="1300" b="1">
                <a:solidFill>
                  <a:srgbClr val="1E293B"/>
                </a:solidFill>
              </a:defRPr>
            </a:pPr>
            <a:r>
              <a:t>3. Proposed WiFi-CSI Sensing</a:t>
            </a:r>
          </a:p>
        </p:txBody>
      </p:sp>
      <p:sp>
        <p:nvSpPr>
          <p:cNvPr id="14" name="TextBox 13"/>
          <p:cNvSpPr txBox="1"/>
          <p:nvPr/>
        </p:nvSpPr>
        <p:spPr>
          <a:xfrm>
            <a:off x="8229600" y="1828800"/>
            <a:ext cx="3017520" cy="4297680"/>
          </a:xfrm>
          <a:prstGeom prst="rect">
            <a:avLst/>
          </a:prstGeom>
          <a:noFill/>
        </p:spPr>
        <p:txBody>
          <a:bodyPr wrap="square">
            <a:spAutoFit/>
          </a:bodyPr>
          <a:lstStyle/>
          <a:p>
            <a:pPr>
              <a:defRPr sz="1200" b="1">
                <a:solidFill>
                  <a:srgbClr val="0D9488"/>
                </a:solidFill>
              </a:defRPr>
            </a:pPr>
            <a:r>
              <a:t>Core Engineering Advantages:</a:t>
            </a:r>
          </a:p>
          <a:p>
            <a:pPr>
              <a:defRPr sz="1050"/>
            </a:pPr>
            <a:r>
              <a:t>• 100% Privacy-Preserving: Captures zero optical or acoustic images.</a:t>
            </a:r>
          </a:p>
          <a:p>
            <a:pPr>
              <a:defRPr sz="1050"/>
            </a:pPr>
            <a:r>
              <a:t>• Through-Obstacle Penetration: 2.4 GHz RF penetrates non-metallic partitions.</a:t>
            </a:r>
          </a:p>
          <a:p>
            <a:pPr>
              <a:defRPr sz="1050"/>
            </a:pPr>
            <a:r>
              <a:t>• Device-Free: Operates completely contactlessly; user wears zero hardware.</a:t>
            </a:r>
          </a:p>
          <a:p>
            <a:pPr>
              <a:defRPr sz="1050"/>
            </a:pPr>
            <a:r>
              <a:t>• Ultra-Low Cost: Built on commodity ESP32 hardware (~$15 total).</a:t>
            </a:r>
          </a:p>
          <a:p>
            <a:pPr>
              <a:defRPr sz="1050"/>
            </a:pPr>
            <a:r>
              <a:t>• Dual-Use Infrastructure: Leverages ubiquitous ambient wireless fields.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RF PHYSICAL LAYER</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RF Physics &amp; CSI Fundamentals: Physical Principle &amp; Multipath</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OFDM Channel Estimation Model</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Frequency-Domain Channel Response</a:t>
            </a:r>
          </a:p>
          <a:p>
            <a:pPr>
              <a:defRPr sz="1050">
                <a:solidFill>
                  <a:srgbClr val="0F172A"/>
                </a:solidFill>
              </a:defRPr>
            </a:pPr>
            <a:r>
              <a:t>• In 802.11n OFDM, the received symbol Y(f,t) relates to transmitted symbol X(f,t) via:</a:t>
            </a:r>
          </a:p>
          <a:p>
            <a:pPr>
              <a:defRPr sz="1050">
                <a:solidFill>
                  <a:srgbClr val="0F172A"/>
                </a:solidFill>
              </a:defRPr>
            </a:pPr>
            <a:r>
              <a:t>• Y(f, t) = H(f, t) · X(f, t) + N(f, t)   ==&gt;   H(f, t) = Y(f, t) / X(f, t)</a:t>
            </a:r>
          </a:p>
          <a:p>
            <a:pPr>
              <a:defRPr sz="1050">
                <a:solidFill>
                  <a:srgbClr val="0F172A"/>
                </a:solidFill>
              </a:defRPr>
            </a:pPr>
            <a:r>
              <a:t>• H(f,t) is the complex Channel Frequency Response (CFR), estimated across subcarriers from known Long Training Field (LTF) symbols in every packet preamble.</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Multipath Superposition &amp; Motion</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Constructive / Destructive Interference</a:t>
            </a:r>
          </a:p>
          <a:p>
            <a:pPr>
              <a:defRPr sz="1050">
                <a:solidFill>
                  <a:srgbClr val="0F172A"/>
                </a:solidFill>
              </a:defRPr>
            </a:pPr>
            <a:r>
              <a:t>• H(f,t) = H_static(f) + H_dynamic(f, t) = sum of L physical propagation paths.</a:t>
            </a:r>
          </a:p>
          <a:p>
            <a:pPr>
              <a:defRPr sz="1050">
                <a:solidFill>
                  <a:srgbClr val="0F172A"/>
                </a:solidFill>
              </a:defRPr>
            </a:pPr>
            <a:r>
              <a:t>• Static paths reflect off walls, floor, and metal cabinets; dynamic path reflects off moving limbs.</a:t>
            </a:r>
          </a:p>
          <a:p>
            <a:pPr>
              <a:defRPr sz="1050">
                <a:solidFill>
                  <a:srgbClr val="0F172A"/>
                </a:solidFill>
              </a:defRPr>
            </a:pPr>
            <a:r>
              <a:t>• Doppler Shift: f_D = (1 / λ) · (d/dt)[d_dynamic(t)]. At 2.462 GHz, λ ≈ 12.2 cm.</a:t>
            </a:r>
          </a:p>
          <a:p>
            <a:pPr>
              <a:defRPr sz="1050">
                <a:solidFill>
                  <a:srgbClr val="0F172A"/>
                </a:solidFill>
              </a:defRPr>
            </a:pPr>
            <a:r>
              <a:t>• Sub-Centimeter Sensitivity: Moving a body by λ/4 ≈ 3 cm flips the reflected phase by 180°.</a:t>
            </a:r>
          </a:p>
          <a:p>
            <a:pPr>
              <a:defRPr sz="1050">
                <a:solidFill>
                  <a:srgbClr val="0F172A"/>
                </a:solidFill>
              </a:defRPr>
            </a:pPr>
            <a:r>
              <a:t>• CSI vs RSSI: RSSI is a single coarse scalar power value; CSI provides fine-grained complex measurements across 114 subcarriers simultaneously.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HARDWARE IMPLEMENTATION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Experimental Hardware Architecture &amp; Library Testbed Layout</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Hardware Component Architecture</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Off-The-Shelf Transceivers</a:t>
            </a:r>
          </a:p>
          <a:p>
            <a:pPr>
              <a:defRPr sz="1050">
                <a:solidFill>
                  <a:srgbClr val="0F172A"/>
                </a:solidFill>
              </a:defRPr>
            </a:pPr>
            <a:r>
              <a:t>• Transmitter (TX): NodeMCU-32S (ESP-WROOM-32U, Xtensa LX6 @ 240 MHz).</a:t>
            </a:r>
          </a:p>
          <a:p>
            <a:pPr>
              <a:defRPr sz="1050">
                <a:solidFill>
                  <a:srgbClr val="0F172A"/>
                </a:solidFill>
              </a:defRPr>
            </a:pPr>
            <a:r>
              <a:t>• TX Antenna: External 8 dBi directional patch antenna mounted at height h = 0.9 m at (0.0, 0.0) m.</a:t>
            </a:r>
          </a:p>
          <a:p>
            <a:pPr>
              <a:defRPr sz="1050">
                <a:solidFill>
                  <a:srgbClr val="0F172A"/>
                </a:solidFill>
              </a:defRPr>
            </a:pPr>
            <a:r>
              <a:t>• Receiver 1 (RX1): YD-ESP32-S3 (Xtensa LX7 @ 240 MHz) + 6 dBi omni antenna at h = 1.0 m at (-1.3, 4.5) m.</a:t>
            </a:r>
          </a:p>
          <a:p>
            <a:pPr>
              <a:defRPr sz="1050">
                <a:solidFill>
                  <a:srgbClr val="0F172A"/>
                </a:solidFill>
              </a:defRPr>
            </a:pPr>
            <a:r>
              <a:t>• Receiver 2 (RX2): YD-ESP32-S3 + 6 dBi omni antenna at h = 0.5 m at (+1.3, 4.5) m.</a:t>
            </a:r>
          </a:p>
          <a:p>
            <a:pPr>
              <a:defRPr sz="1050">
                <a:solidFill>
                  <a:srgbClr val="0F172A"/>
                </a:solidFill>
              </a:defRPr>
            </a:pPr>
            <a:r>
              <a:t>• Host Node: Linux laptop (Intel i3-7020U, 7 GB RAM) receiving serial streams at 2,000,000 baud.</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Room Geometry: College Library Hall</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Coordinate Frame (position_map.yaml v2)</a:t>
            </a:r>
          </a:p>
          <a:p>
            <a:pPr>
              <a:defRPr sz="1050">
                <a:solidFill>
                  <a:srgbClr val="0F172A"/>
                </a:solidFill>
              </a:defRPr>
            </a:pPr>
            <a:r>
              <a:t>• Room: College Library Main Hall (active sensing area: 4.5 m x 5.0 m).</a:t>
            </a:r>
          </a:p>
          <a:p>
            <a:pPr>
              <a:defRPr sz="1050">
                <a:solidFill>
                  <a:srgbClr val="0F172A"/>
                </a:solidFill>
              </a:defRPr>
            </a:pPr>
            <a:r>
              <a:t>• Chair A: (-0.9, 3.2) m — sits directly on the direct RX1 line-of-sight link.</a:t>
            </a:r>
          </a:p>
          <a:p>
            <a:pPr>
              <a:defRPr sz="1050">
                <a:solidFill>
                  <a:srgbClr val="0F172A"/>
                </a:solidFill>
              </a:defRPr>
            </a:pPr>
            <a:r>
              <a:t>• Chair B: (+1.0, 1.5) m — sits directly on the direct RX2 line-of-sight link.</a:t>
            </a:r>
          </a:p>
          <a:p>
            <a:pPr>
              <a:defRPr sz="1050">
                <a:solidFill>
                  <a:srgbClr val="0F172A"/>
                </a:solidFill>
              </a:defRPr>
            </a:pPr>
            <a:r>
              <a:t>• Chair C: (0.0, 1.2) m — central chair positioned near the transmitter.</a:t>
            </a:r>
          </a:p>
          <a:p>
            <a:pPr>
              <a:defRPr sz="1050">
                <a:solidFill>
                  <a:srgbClr val="0F172A"/>
                </a:solidFill>
              </a:defRPr>
            </a:pPr>
            <a:r>
              <a:t>• Mattress M: Bounded area x in [-0.5, 1.5], y in [2.9, 3.8] m (all simulated falls performed here).</a:t>
            </a:r>
          </a:p>
          <a:p>
            <a:pPr>
              <a:defRPr sz="1050">
                <a:solidFill>
                  <a:srgbClr val="0F172A"/>
                </a:solidFill>
              </a:defRPr>
            </a:pPr>
            <a:r>
              <a:t>• Path 1 (Vertical): Walk along the LoS link (x = -1.5, y in [1.2, 4.0]).</a:t>
            </a:r>
          </a:p>
          <a:p>
            <a:pPr>
              <a:defRPr sz="1050">
                <a:solidFill>
                  <a:srgbClr val="0F172A"/>
                </a:solidFill>
              </a:defRPr>
            </a:pPr>
            <a:r>
              <a:t>• Path 2 (Horizontal): Walk across the LoS link (y = 2.55, x in [-2.0,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FIRMWARE &amp; PROTOCOL</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Radio Layer Specifications &amp; Binary Wire Framing Protocol</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Radio Layer Physical Parameters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IEEE 802.11n Configuration</a:t>
            </a:r>
          </a:p>
          <a:p>
            <a:pPr>
              <a:defRPr sz="1050">
                <a:solidFill>
                  <a:srgbClr val="0F172A"/>
                </a:solidFill>
              </a:defRPr>
            </a:pPr>
            <a:r>
              <a:t>• Bandwidth / Channel: Wi-Fi Channel 11 (2462 MHz), HT40 mode (40 MHz width, 2432–2472 MHz).</a:t>
            </a:r>
          </a:p>
          <a:p>
            <a:pPr>
              <a:defRPr sz="1050">
                <a:solidFill>
                  <a:srgbClr val="0F172A"/>
                </a:solidFill>
              </a:defRPr>
            </a:pPr>
            <a:r>
              <a:t>• PHY Rate: Fixed to MCS0 (BPSK, 1/2 code rate) with Long Guard Interval (800 ns). Zero rate adaptation.</a:t>
            </a:r>
          </a:p>
          <a:p>
            <a:pPr>
              <a:defRPr sz="1050">
                <a:solidFill>
                  <a:srgbClr val="0F172A"/>
                </a:solidFill>
              </a:defRPr>
            </a:pPr>
            <a:r>
              <a:t>• Packet Transmission Rate: Exactly 200 Hz (5000 µs hardware esp_timer interrupt period).</a:t>
            </a:r>
          </a:p>
          <a:p>
            <a:pPr>
              <a:defRPr sz="1050">
                <a:solidFill>
                  <a:srgbClr val="0F172A"/>
                </a:solidFill>
              </a:defRPr>
            </a:pPr>
            <a:r>
              <a:t>• TX Output Power: Configured at 5 dBm (CONFIG_TX_POWER_QDBM = 20), saved in NVS (D-017, D-029).</a:t>
            </a:r>
          </a:p>
          <a:p>
            <a:pPr>
              <a:defRPr sz="1050">
                <a:solidFill>
                  <a:srgbClr val="0F172A"/>
                </a:solidFill>
              </a:defRPr>
            </a:pPr>
            <a:r>
              <a:t>• Transmission Mode: Connectionless ESP-NOW broadcast with static radio_id = 0xCBD36978.</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Wire Protocol v2 Framing</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High-Throughput Serial Streaming</a:t>
            </a:r>
          </a:p>
          <a:p>
            <a:pPr>
              <a:defRPr sz="1050">
                <a:solidFill>
                  <a:srgbClr val="0F172A"/>
                </a:solidFill>
              </a:defRPr>
            </a:pPr>
            <a:r>
              <a:t>• Frame Format: 48-byte packed C-struct header framed by sync bytes 0xA5 0x5A.</a:t>
            </a:r>
          </a:p>
          <a:p>
            <a:pPr>
              <a:defRPr sz="1050">
                <a:solidFill>
                  <a:srgbClr val="0F172A"/>
                </a:solidFill>
              </a:defRPr>
            </a:pPr>
            <a:r>
              <a:t>• Data Integrity: Protected by CRC-16/CCITT-FALSE across header and payload bytes.</a:t>
            </a:r>
          </a:p>
          <a:p>
            <a:pPr>
              <a:defRPr sz="1050">
                <a:solidFill>
                  <a:srgbClr val="0F172A"/>
                </a:solidFill>
              </a:defRPr>
            </a:pPr>
            <a:r>
              <a:t>• Active Carriers: 384 raw CSI bytes per packet representing HT-LTF I/Q values.</a:t>
            </a:r>
          </a:p>
          <a:p>
            <a:pPr>
              <a:defRPr sz="1050">
                <a:solidFill>
                  <a:srgbClr val="0F172A"/>
                </a:solidFill>
              </a:defRPr>
            </a:pPr>
            <a:r>
              <a:t>• Audit Verification: Decoded 250 files across 125 morning takes with ZERO CRC errors (D-011 limit &lt; 0.5%).</a:t>
            </a:r>
          </a:p>
          <a:p>
            <a:pPr>
              <a:defRPr sz="1050">
                <a:solidFill>
                  <a:srgbClr val="0F172A"/>
                </a:solidFill>
              </a:defRPr>
            </a:pPr>
            <a:r>
              <a:t>• Board Liveness: Firmware v2.1 introduces task watchdog and boot reset reasons in HELLO frames.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DATA ACQUISITION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Data Collection Protocol, Safety Procedures &amp; RF Hygiene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Experimental Recording Protocol</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Controlled Script Execution</a:t>
            </a:r>
          </a:p>
          <a:p>
            <a:pPr>
              <a:defRPr sz="1050">
                <a:solidFill>
                  <a:srgbClr val="0F172A"/>
                </a:solidFill>
              </a:defRPr>
            </a:pPr>
            <a:r>
              <a:t>• Acoustic Pacing: Automated terminal speech countdown ensured strict protocol synchronization.</a:t>
            </a:r>
          </a:p>
          <a:p>
            <a:pPr>
              <a:defRPr sz="1050">
                <a:solidFill>
                  <a:srgbClr val="0F172A"/>
                </a:solidFill>
              </a:defRPr>
            </a:pPr>
            <a:r>
              <a:t>• Event Takes (10 s): 3 s motionless baseline -&gt; Spoken 'GO' prompt -&gt; Action execution (1–2 s) -&gt; 4 s settling posture.</a:t>
            </a:r>
          </a:p>
          <a:p>
            <a:pPr>
              <a:defRPr sz="1050">
                <a:solidFill>
                  <a:srgbClr val="0F172A"/>
                </a:solidFill>
              </a:defRPr>
            </a:pPr>
            <a:r>
              <a:t>• State Takes (30 s): Continuous, steady-state execution (sitting, standing, walking, lying, or empty).</a:t>
            </a:r>
          </a:p>
          <a:p>
            <a:pPr>
              <a:defRPr sz="1050">
                <a:solidFill>
                  <a:srgbClr val="0F172A"/>
                </a:solidFill>
              </a:defRPr>
            </a:pPr>
            <a:r>
              <a:t>• Fall Safety Mandate: All falls performed onto a high-density gymnasium mattress with spotters present.</a:t>
            </a:r>
          </a:p>
          <a:p>
            <a:pPr>
              <a:defRPr sz="1050">
                <a:solidFill>
                  <a:srgbClr val="0F172A"/>
                </a:solidFill>
              </a:defRPr>
            </a:pPr>
            <a:r>
              <a:t>• Action Look-Alikes: Included sit_down, stand_up, and bend_pick to challenge the fall detector.</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RF Hygiene Protocol (Decision D-032)</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Eliminating In-Band Contention</a:t>
            </a:r>
          </a:p>
          <a:p>
            <a:pPr>
              <a:defRPr sz="1050">
                <a:solidFill>
                  <a:srgbClr val="0F172A"/>
                </a:solidFill>
              </a:defRPr>
            </a:pPr>
            <a:r>
              <a:t>• The Contention Discovery: Link check before S5 revealed that leaving host laptop Wi-Fi active caused 41.5% packet loss on RX2 at strong RSSI (-38 dBm) due to local radio contention.</a:t>
            </a:r>
          </a:p>
          <a:p>
            <a:pPr>
              <a:defRPr sz="1050">
                <a:solidFill>
                  <a:srgbClr val="0F172A"/>
                </a:solidFill>
              </a:defRPr>
            </a:pPr>
            <a:r>
              <a:t>• Hygiene Rule Enforced: Host laptop onboard Wi-Fi and Bluetooth disabled via rfkill; all bystander smartphones switched to airplane mode.</a:t>
            </a:r>
          </a:p>
          <a:p>
            <a:pPr>
              <a:defRPr sz="1050">
                <a:solidFill>
                  <a:srgbClr val="0F172A"/>
                </a:solidFill>
              </a:defRPr>
            </a:pPr>
            <a:r>
              <a:t>• Impact: Disabling laptop radios instantly dropped packet loss to 1.1% on RX1 and 4.7% on RX2.</a:t>
            </a:r>
          </a:p>
          <a:p>
            <a:pPr>
              <a:defRPr sz="1050">
                <a:solidFill>
                  <a:srgbClr val="0F172A"/>
                </a:solidFill>
              </a:defRPr>
            </a:pPr>
            <a:r>
              <a:t>• Rule Codified: Made mandatory for all subsequent recording and live system operations.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DATASET &amp; AUDIT</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Curated Dataset &amp; Phase 0 Audit: 202 Takes Across 6 Folds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Final Dataset Composition</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202 Recorded Takes (801 Files Total)</a:t>
            </a:r>
          </a:p>
          <a:p>
            <a:pPr>
              <a:defRPr sz="1050">
                <a:solidFill>
                  <a:srgbClr val="0F172A"/>
                </a:solidFill>
              </a:defRPr>
            </a:pPr>
            <a:r>
              <a:t>• Cohort: 6 healthy adult volunteers (S1 to S6) + unoccupied room takes (none).</a:t>
            </a:r>
          </a:p>
          <a:p>
            <a:pPr>
              <a:defRPr sz="1050">
                <a:solidFill>
                  <a:srgbClr val="0F172A"/>
                </a:solidFill>
              </a:defRPr>
            </a:pPr>
            <a:r>
              <a:t>• Morning Session (S1–S4): 125 takes (118 subject takes + 4 baseline empty takes).</a:t>
            </a:r>
          </a:p>
          <a:p>
            <a:pPr>
              <a:defRPr sz="1050">
                <a:solidFill>
                  <a:srgbClr val="0F172A"/>
                </a:solidFill>
              </a:defRPr>
            </a:pPr>
            <a:r>
              <a:t>• Afternoon Session (S5–S6): 77 takes recorded after an intentional transmitter realignment.</a:t>
            </a:r>
          </a:p>
          <a:p>
            <a:pPr>
              <a:defRPr sz="1050">
                <a:solidFill>
                  <a:srgbClr val="0F172A"/>
                </a:solidFill>
              </a:defRPr>
            </a:pPr>
            <a:r>
              <a:t>• Activity Breakdown: 42 falls, 43 sit-downs, 46 stand-ups, 20 bend-and-picks, 16 walks, 11 stands, 11 sits, 6 lies, 7 empty.</a:t>
            </a:r>
          </a:p>
          <a:p>
            <a:pPr>
              <a:defRPr sz="1050">
                <a:solidFill>
                  <a:srgbClr val="0F172A"/>
                </a:solidFill>
              </a:defRPr>
            </a:pPr>
            <a:r>
              <a:t>• Format 2 Windows: Exactly 2401 windows of 4 s extracted (hop 0.5 s, 20% quality gate).</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Session Effect &amp; Audit Findings</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Phase 0 Read-Only Audit (docs/AUDIT.md)</a:t>
            </a:r>
          </a:p>
          <a:p>
            <a:pPr>
              <a:defRPr sz="1050">
                <a:solidFill>
                  <a:srgbClr val="0F172A"/>
                </a:solidFill>
              </a:defRPr>
            </a:pPr>
            <a:r>
              <a:t>• Audit Immutability: Scripts read data/raw as read-only; 801 files verified by SHA-256 manifest.</a:t>
            </a:r>
          </a:p>
          <a:p>
            <a:pPr>
              <a:defRPr sz="1050">
                <a:solidFill>
                  <a:srgbClr val="0F172A"/>
                </a:solidFill>
              </a:defRPr>
            </a:pPr>
            <a:r>
              <a:t>• Take Overrides (D-018): S1_T29_walk was marked invalid due to operator abort; decoded data was intact and overridden via config/take_overrides.csv without editing raw meta.json.</a:t>
            </a:r>
          </a:p>
          <a:p>
            <a:pPr>
              <a:defRPr sz="1050">
                <a:solidFill>
                  <a:srgbClr val="0F172A"/>
                </a:solidFill>
              </a:defRPr>
            </a:pPr>
            <a:r>
              <a:t>• Session Drift (D-033): S5/S6 show no RSSI drift (≤ 1.0 dB shift), but static channel shape shifted 3.4–4.4 dB RMS between morning and afternoon sessions due to TX re-aim.</a:t>
            </a:r>
          </a:p>
          <a:p>
            <a:pPr>
              <a:defRPr sz="1050">
                <a:solidFill>
                  <a:srgbClr val="0F172A"/>
                </a:solidFill>
              </a:defRPr>
            </a:pPr>
            <a:r>
              <a:t>• Evaluation Impact: S5 and S6 represent true cross-session test folds.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DIGITAL SIGNAL PROCESSING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DSP Pipeline: Subcarrier Layout, Sequence Alignment &amp; Gap-Fill</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Active HT-LTF Subcarriers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114 Used Subcarriers Verified</a:t>
            </a:r>
          </a:p>
          <a:p>
            <a:pPr>
              <a:defRPr sz="1050">
                <a:solidFill>
                  <a:srgbClr val="0F172A"/>
                </a:solidFill>
              </a:defRPr>
            </a:pPr>
            <a:r>
              <a:t>• 802.11n 40 MHz Channel Layout: 128 total subcarrier bins in FFT.</a:t>
            </a:r>
          </a:p>
          <a:p>
            <a:pPr>
              <a:defRPr sz="1050">
                <a:solidFill>
                  <a:srgbClr val="0F172A"/>
                </a:solidFill>
              </a:defRPr>
            </a:pPr>
            <a:r>
              <a:t>• Active Energy Carriers: Verified empirically across 396 receiver takes:</a:t>
            </a:r>
          </a:p>
          <a:p>
            <a:pPr>
              <a:defRPr sz="1050">
                <a:solidFill>
                  <a:srgbClr val="0F172A"/>
                </a:solidFill>
              </a:defRPr>
            </a:pPr>
            <a:r>
              <a:t>• k in [-58, -2] and [+2, +58]  ==&gt;  Exactly 114 active subcarriers.</a:t>
            </a:r>
          </a:p>
          <a:p>
            <a:pPr>
              <a:defRPr sz="1050">
                <a:solidFill>
                  <a:srgbClr val="0F172A"/>
                </a:solidFill>
              </a:defRPr>
            </a:pPr>
            <a:r>
              <a:t>• Null Subcarriers: DC carrier (bin 0, ±1) and guard bands ([-64..-59] and [+59..+63]) carry zero signal.</a:t>
            </a:r>
          </a:p>
          <a:p>
            <a:pPr>
              <a:defRPr sz="1050">
                <a:solidFill>
                  <a:srgbClr val="0F172A"/>
                </a:solidFill>
              </a:defRPr>
            </a:pPr>
            <a:r>
              <a:t>• L-LTF Bins: Evaluated in Phase 2; confirmed to occupy upper 20 MHz only. Dropped to focus on 114 HT-LTF.</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Packet Synchronization &amp; Linear Gap-Fill</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Phasor-Domain Interpolation</a:t>
            </a:r>
          </a:p>
          <a:p>
            <a:pPr>
              <a:defRPr sz="1050">
                <a:solidFill>
                  <a:srgbClr val="0F172A"/>
                </a:solidFill>
              </a:defRPr>
            </a:pPr>
            <a:r>
              <a:t>• Sequence Alignment: RX1 and RX2 streams are aligned by the TX sequence number embedded in firmware.</a:t>
            </a:r>
          </a:p>
          <a:p>
            <a:pPr>
              <a:defRPr sz="1050">
                <a:solidFill>
                  <a:srgbClr val="0F172A"/>
                </a:solidFill>
              </a:defRPr>
            </a:pPr>
            <a:r>
              <a:t>• Linear Gap-Fill: Missing packets within acceptable burst limits are reconstructed via linear interpolation across the complex phasor domain.</a:t>
            </a:r>
          </a:p>
          <a:p>
            <a:pPr>
              <a:defRPr sz="1050">
                <a:solidFill>
                  <a:srgbClr val="0F172A"/>
                </a:solidFill>
              </a:defRPr>
            </a:pPr>
            <a:r>
              <a:t>• Quality Gate (D-039): A window is rejected if either receiver suffers &gt; 20% missing packets or any single gap exceeds 100 ms (20 packets).</a:t>
            </a:r>
          </a:p>
          <a:p>
            <a:pPr>
              <a:defRPr sz="1050">
                <a:solidFill>
                  <a:srgbClr val="0F172A"/>
                </a:solidFill>
              </a:defRPr>
            </a:pPr>
            <a:r>
              <a:t>• Diagnostic Impact: Relaxing initial strict 10% gate to 20% reduced window drops from 27.8% down to 3.9%, recovering 67% of S1's otherwise lost data without distorting DSP.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DIGITAL SIGNAL PROCESSING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DSP Pipeline: FIR Anti-Aliasing, Decimation &amp; Gain Steps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Anti-Aliasing FIR Decimation</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Suppressing High-Frequency Out-Of-Band Noise</a:t>
            </a:r>
          </a:p>
          <a:p>
            <a:pPr>
              <a:defRPr sz="1050">
                <a:solidFill>
                  <a:srgbClr val="0F172A"/>
                </a:solidFill>
              </a:defRPr>
            </a:pPr>
            <a:r>
              <a:t>• Human Kinetic Limits: Normal human body motion generates Doppler shifts bounded below 30–40 Hz (v ≈ 2 m/s, f_D ≈ 32.8 Hz).</a:t>
            </a:r>
          </a:p>
          <a:p>
            <a:pPr>
              <a:defRPr sz="1050">
                <a:solidFill>
                  <a:srgbClr val="0F172A"/>
                </a:solidFill>
              </a:defRPr>
            </a:pPr>
            <a:r>
              <a:t>• Anti-Alias FIR Filter: 27-tap linear-phase Equiripple low-pass filter (passband 0–35 Hz, -45 dB stopband attenuation at 50 Hz).</a:t>
            </a:r>
          </a:p>
          <a:p>
            <a:pPr>
              <a:defRPr sz="1050">
                <a:solidFill>
                  <a:srgbClr val="0F172A"/>
                </a:solidFill>
              </a:defRPr>
            </a:pPr>
            <a:r>
              <a:t>• Decimation: Downsampled from raw 200 Hz to 100 Hz, eliminating high-frequency serial noise and spectral folding.</a:t>
            </a:r>
          </a:p>
          <a:p>
            <a:pPr>
              <a:defRPr sz="1050">
                <a:solidFill>
                  <a:srgbClr val="0F172A"/>
                </a:solidFill>
              </a:defRPr>
            </a:pPr>
            <a:r>
              <a:t>• Phase Coherence: Linear-phase FIR design introduces constant group delay without phase distortion.</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Resolving 6.1 dB Automatic CSI Gain Steps</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Physics of ESP-IDF AGC Steps (D-035)</a:t>
            </a:r>
          </a:p>
          <a:p>
            <a:pPr>
              <a:defRPr sz="1050">
                <a:solidFill>
                  <a:srgbClr val="0F172A"/>
                </a:solidFill>
              </a:defRPr>
            </a:pPr>
            <a:r>
              <a:t>• The Symptom: CSI amplitude exhibited alternating 6.1 dB power drops uncorrelated with RSSI, heavily concentrated at Chair B.</a:t>
            </a:r>
          </a:p>
          <a:p>
            <a:pPr>
              <a:defRPr sz="1050">
                <a:solidFill>
                  <a:srgbClr val="0F172A"/>
                </a:solidFill>
              </a:defRPr>
            </a:pPr>
            <a:r>
              <a:t>• Root Cause: ESP32-S3 internal automatic CSI scaling (manu_scale = false) halving int8 digital resolution under high signal levels.</a:t>
            </a:r>
          </a:p>
          <a:p>
            <a:pPr>
              <a:defRPr sz="1050">
                <a:solidFill>
                  <a:srgbClr val="0F172A"/>
                </a:solidFill>
              </a:defRPr>
            </a:pPr>
            <a:r>
              <a:t>• The Fix: Per-packet gain normalization divides each subcarrier by the packet's mean amplitude:</a:t>
            </a:r>
          </a:p>
          <a:p>
            <a:pPr>
              <a:defRPr sz="1050">
                <a:solidFill>
                  <a:srgbClr val="0F172A"/>
                </a:solidFill>
              </a:defRPr>
            </a:pPr>
            <a:r>
              <a:t>• X_norm(k, t) = X_raw(k, t) / [ (1/114) * sum_i(X_raw(i, t)) ]</a:t>
            </a:r>
          </a:p>
          <a:p>
            <a:pPr>
              <a:defRPr sz="1050">
                <a:solidFill>
                  <a:srgbClr val="0F172A"/>
                </a:solidFill>
              </a:defRPr>
            </a:pPr>
            <a:r>
              <a:t>• Integrity Rule: Low-scale packet fraction is permanently banned as a feature (correlates with Chair B position).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DIGITAL SIGNAL PROCESSING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DSP Pipeline: Subcarrier Phase Unwrapping &amp; Sanitization</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The Raw Phase Problem</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Carrier Frequency &amp; Packet Delay Noise</a:t>
            </a:r>
          </a:p>
          <a:p>
            <a:pPr>
              <a:defRPr sz="1050">
                <a:solidFill>
                  <a:srgbClr val="0F172A"/>
                </a:solidFill>
              </a:defRPr>
            </a:pPr>
            <a:r>
              <a:t>• Raw Phase Instability: Raw phase angles exhibit uniform random distribution across packets (circular std ≈ 2.82 rad).</a:t>
            </a:r>
          </a:p>
          <a:p>
            <a:pPr>
              <a:defRPr sz="1050">
                <a:solidFill>
                  <a:srgbClr val="0F172A"/>
                </a:solidFill>
              </a:defRPr>
            </a:pPr>
            <a:r>
              <a:t>• Sources of Corruption: Caused by Carrier Frequency Offset (CFO), Sampling Frequency Offset (SFO), and microsecond Packet Detection Delays (PDD).</a:t>
            </a:r>
          </a:p>
          <a:p>
            <a:pPr>
              <a:defRPr sz="1050">
                <a:solidFill>
                  <a:srgbClr val="0F172A"/>
                </a:solidFill>
              </a:defRPr>
            </a:pPr>
            <a:r>
              <a:t>• Equation of Corruption: θ_raw(k, t) = θ_true(k, t) - 2π · k · Δt / N + β + Z_noise.</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Two-Stage Linear Sanitization (Decision D-036)</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Subcarrier Unwrapping &amp; Detrending</a:t>
            </a:r>
          </a:p>
          <a:p>
            <a:pPr>
              <a:defRPr sz="1050">
                <a:solidFill>
                  <a:srgbClr val="0F172A"/>
                </a:solidFill>
              </a:defRPr>
            </a:pPr>
            <a:r>
              <a:t>• Stage 1: Frequency Unwrapping across subcarriers: θ_unwrap(k, t) = unwrap(θ_raw(k, t)).</a:t>
            </a:r>
          </a:p>
          <a:p>
            <a:pPr>
              <a:defRPr sz="1050">
                <a:solidFill>
                  <a:srgbClr val="0F172A"/>
                </a:solidFill>
              </a:defRPr>
            </a:pPr>
            <a:r>
              <a:t>• Stage 2: Least-Squares Linear Detrending to remove slope α_t and intercept β_t for each individual packet:</a:t>
            </a:r>
          </a:p>
          <a:p>
            <a:pPr>
              <a:defRPr sz="1050">
                <a:solidFill>
                  <a:srgbClr val="0F172A"/>
                </a:solidFill>
              </a:defRPr>
            </a:pPr>
            <a:r>
              <a:t>• θ_sanitized(k, t) = θ_unwrap(k, t) - (α_t · k + β_t)</a:t>
            </a:r>
          </a:p>
          <a:p>
            <a:pPr>
              <a:defRPr sz="1050">
                <a:solidFill>
                  <a:srgbClr val="0F172A"/>
                </a:solidFill>
              </a:defRPr>
            </a:pPr>
            <a:r>
              <a:t>• Quantitative Noise Reduction: Sanitized phase circular standard deviation collapses from 2.82 rad down to 0.13–0.16 rad!</a:t>
            </a:r>
          </a:p>
          <a:p>
            <a:pPr>
              <a:defRPr sz="1050">
                <a:solidFill>
                  <a:srgbClr val="0F172A"/>
                </a:solidFill>
              </a:defRPr>
            </a:pPr>
            <a:r>
              <a:t>• Physical Utility: Unveils path-length variations; dynamic phase features weighted by amplitude squared to neutralize 2π slips.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EXPERIMENTAL RIGOR</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Spatial Leakage Trap: Discovering the Position Confound</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The Hidden Experimental Trap</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Why Standard ML Pipelines Cheat</a:t>
            </a:r>
          </a:p>
          <a:p>
            <a:pPr>
              <a:defRPr sz="1050">
                <a:solidFill>
                  <a:srgbClr val="0F172A"/>
                </a:solidFill>
              </a:defRPr>
            </a:pPr>
            <a:r>
              <a:t>• Spatial Confounding (D-024): In home monitoring, actions naturally correlate with furniture (falls on mattress, sitting at chairs, walking on paths).</a:t>
            </a:r>
          </a:p>
          <a:p>
            <a:pPr>
              <a:defRPr sz="1050">
                <a:solidFill>
                  <a:srgbClr val="0F172A"/>
                </a:solidFill>
              </a:defRPr>
            </a:pPr>
            <a:r>
              <a:t>• Body Shadowing Effect: Sitting at Chair A shadows RX1; sitting at Chair B shadows RX2.</a:t>
            </a:r>
          </a:p>
          <a:p>
            <a:pPr>
              <a:defRPr sz="1050">
                <a:solidFill>
                  <a:srgbClr val="0F172A"/>
                </a:solidFill>
              </a:defRPr>
            </a:pPr>
            <a:r>
              <a:t>• The Leakage: Static features (mean RSSI, static subcarrier band amplitudes) encode WHERE a person is rather than WHAT action is occurring.</a:t>
            </a:r>
          </a:p>
          <a:p>
            <a:pPr>
              <a:defRPr sz="1050">
                <a:solidFill>
                  <a:srgbClr val="0F172A"/>
                </a:solidFill>
              </a:defRPr>
            </a:pPr>
            <a:r>
              <a:t>• The Academic Fallacy: Published papers using static features achieve 95% accuracy because the model simply memorizes room coordinates.</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Our Architectural Solution: Static vs. Dynamic Split</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Enforcing Genuine Kinematic Sensing</a:t>
            </a:r>
          </a:p>
          <a:p>
            <a:pPr>
              <a:defRPr sz="1050">
                <a:solidFill>
                  <a:srgbClr val="0F172A"/>
                </a:solidFill>
              </a:defRPr>
            </a:pPr>
            <a:r>
              <a:t>• Bifurcated Feature Architecture: Every feature explicitly classified into Static (Spatial) or Dynamic (Kinematic) groups.</a:t>
            </a:r>
          </a:p>
          <a:p>
            <a:pPr>
              <a:defRPr sz="1050">
                <a:solidFill>
                  <a:srgbClr val="0F172A"/>
                </a:solidFill>
              </a:defRPr>
            </a:pPr>
            <a:r>
              <a:t>• Mandatory Dynamic-Only Reporting: All primary event models are trained strictly on dynamic motion features (temporal variance, Doppler powers).</a:t>
            </a:r>
          </a:p>
          <a:p>
            <a:pPr>
              <a:defRPr sz="1050">
                <a:solidFill>
                  <a:srgbClr val="0F172A"/>
                </a:solidFill>
              </a:defRPr>
            </a:pPr>
            <a:r>
              <a:t>• Empirical Proof of Confound: Static features alone drop event macro-F1 to 0.353; identical sit-down actions at Chair A achieved 76% recall, but collapsed to 25% at Chair B where 16–22% were mistaken for falls!</a:t>
            </a:r>
          </a:p>
          <a:p>
            <a:pPr>
              <a:defRPr sz="1050">
                <a:solidFill>
                  <a:srgbClr val="0F172A"/>
                </a:solidFill>
              </a:defRPr>
            </a:pPr>
            <a:r>
              <a:t>• Rigorous Reporting: Position confounding documented as a first-class project limitation in REPORT.md.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FEATURE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Feature Engineering: The 83-Dimensional f2 Feature Space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Static Spatial Group (33 Features)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Captures Static Multipath Profile</a:t>
            </a:r>
          </a:p>
          <a:p>
            <a:pPr>
              <a:defRPr sz="1050">
                <a:solidFill>
                  <a:srgbClr val="0F172A"/>
                </a:solidFill>
              </a:defRPr>
            </a:pPr>
            <a:r>
              <a:t>• Band Mean Amplitudes (16): Normalized mean amplitude across 8 subcarrier sub-bands for RX1 and RX2.</a:t>
            </a:r>
          </a:p>
          <a:p>
            <a:pPr>
              <a:defRPr sz="1050">
                <a:solidFill>
                  <a:srgbClr val="0F172A"/>
                </a:solidFill>
              </a:defRPr>
            </a:pPr>
            <a:r>
              <a:t>• Received Power Levels (3): Mean RSSI for RX1, RX2, and cross-receiver spatial difference (RX1 - RX2).</a:t>
            </a:r>
          </a:p>
          <a:p>
            <a:pPr>
              <a:defRPr sz="1050">
                <a:solidFill>
                  <a:srgbClr val="0F172A"/>
                </a:solidFill>
              </a:defRPr>
            </a:pPr>
            <a:r>
              <a:t>• Spatial PCA Loadings (14): Explained variance ratios of top 3 principal components and carrier quarter loadings.</a:t>
            </a:r>
          </a:p>
          <a:p>
            <a:pPr>
              <a:defRPr sz="1050">
                <a:solidFill>
                  <a:srgbClr val="0F172A"/>
                </a:solidFill>
              </a:defRPr>
            </a:pPr>
            <a:r>
              <a:t>• Utility: Used for baseline presence detection; excluded from dynamic event classification.</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Dynamic Motion Group (50 Features — Primary Input)</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Captures Doppler Kinematics</a:t>
            </a:r>
          </a:p>
          <a:p>
            <a:pPr>
              <a:defRPr sz="1050">
                <a:solidFill>
                  <a:srgbClr val="0F172A"/>
                </a:solidFill>
              </a:defRPr>
            </a:pPr>
            <a:r>
              <a:t>• Temporal Fluctuations (12): Standard deviation and 10 ms absolute differences across subcarriers (RX1/RX2).</a:t>
            </a:r>
          </a:p>
          <a:p>
            <a:pPr>
              <a:defRPr sz="1050">
                <a:solidFill>
                  <a:srgbClr val="0F172A"/>
                </a:solidFill>
              </a:defRPr>
            </a:pPr>
            <a:r>
              <a:t>• Sliding Motion Energy (8): 0.25 s sliding standard deviation of PC1–3 and temporal peak location.</a:t>
            </a:r>
          </a:p>
          <a:p>
            <a:pPr>
              <a:defRPr sz="1050">
                <a:solidFill>
                  <a:srgbClr val="0F172A"/>
                </a:solidFill>
              </a:defRPr>
            </a:pPr>
            <a:r>
              <a:t>• Doppler Spectral Bandpowers (12): FFT bandpowers of PC1: sway (&lt; 1 Hz), walking (1–3 Hz), and fall impact (&gt; 3 Hz).</a:t>
            </a:r>
          </a:p>
          <a:p>
            <a:pPr>
              <a:defRPr sz="1050">
                <a:solidFill>
                  <a:srgbClr val="0F172A"/>
                </a:solidFill>
              </a:defRPr>
            </a:pPr>
            <a:r>
              <a:t>• Inter-Carrier Coherence (2): Mean correlation across subcarrier fluctuations; high coherence indicates macroscopic body movement.</a:t>
            </a:r>
          </a:p>
          <a:p>
            <a:pPr>
              <a:defRPr sz="1050">
                <a:solidFill>
                  <a:srgbClr val="0F172A"/>
                </a:solidFill>
              </a:defRPr>
            </a:pPr>
            <a:r>
              <a:t>• Sanitized Phase Dynamics (10): Amplitude-weighted circular variance and phase derivative energy.</a:t>
            </a:r>
          </a:p>
          <a:p>
            <a:pPr>
              <a:defRPr sz="1050">
                <a:solidFill>
                  <a:srgbClr val="0F172A"/>
                </a:solidFill>
              </a:defRPr>
            </a:pPr>
            <a:r>
              <a:t>• Cross-Receiver Dynamics (4): Log-ratios of temporal variance and cross-correlation of RX1/RX2 motion envelopes.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EVALUATION FRAMEWORK</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Evaluation Methodology: Leave-One-Subject-Out (LOSO)</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Why Random Cross-Validation Fails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Eliminating Subject Data Leakage</a:t>
            </a:r>
          </a:p>
          <a:p>
            <a:pPr>
              <a:defRPr sz="1050">
                <a:solidFill>
                  <a:srgbClr val="0F172A"/>
                </a:solidFill>
              </a:defRPr>
            </a:pPr>
            <a:r>
              <a:t>• The Random Split Flaw: Shuffling windows randomly into 80/20 train/test leaks identical subject multipath and clothes reflections into both splits.</a:t>
            </a:r>
          </a:p>
          <a:p>
            <a:pPr>
              <a:defRPr sz="1050">
                <a:solidFill>
                  <a:srgbClr val="0F172A"/>
                </a:solidFill>
              </a:defRPr>
            </a:pPr>
            <a:r>
              <a:t>• The LOSO Standard: Evaluation is conducted strictly via 6-Fold Leave-One-Subject-Out (LOSO) cross-validation across all subjects S1 to S6.</a:t>
            </a:r>
          </a:p>
          <a:p>
            <a:pPr>
              <a:defRPr sz="1050">
                <a:solidFill>
                  <a:srgbClr val="0F172A"/>
                </a:solidFill>
              </a:defRPr>
            </a:pPr>
            <a:r>
              <a:t>• Complete Isolation: In each fold, all takes from one volunteer are completely withheld from training and used strictly as test data.</a:t>
            </a:r>
          </a:p>
          <a:p>
            <a:pPr>
              <a:defRPr sz="1050">
                <a:solidFill>
                  <a:srgbClr val="0F172A"/>
                </a:solidFill>
              </a:defRPr>
            </a:pPr>
            <a:r>
              <a:t>• Round-Robin Baselines: The 7 empty-room takes are distributed round-robin across folds (D-028) so every fold maintains true negative presence examples.</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Nested Hyperparameter Tuning</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Zero Test Fold Contamination</a:t>
            </a:r>
          </a:p>
          <a:p>
            <a:pPr>
              <a:defRPr sz="1050">
                <a:solidFill>
                  <a:srgbClr val="0F172A"/>
                </a:solidFill>
              </a:defRPr>
            </a:pPr>
            <a:r>
              <a:t>• Nested Search: Within each outer training fold, hyperparameter optimization uses GroupKFold(n_splits=3) grouped by training subjects.</a:t>
            </a:r>
          </a:p>
          <a:p>
            <a:pPr>
              <a:defRPr sz="1050">
                <a:solidFill>
                  <a:srgbClr val="0F172A"/>
                </a:solidFill>
              </a:defRPr>
            </a:pPr>
            <a:r>
              <a:t>• Feature Scaling: StandardScaler fitted strictly on training fold distributions; test fold transformed without leakage.</a:t>
            </a:r>
          </a:p>
          <a:p>
            <a:pPr>
              <a:defRPr sz="1050">
                <a:solidFill>
                  <a:srgbClr val="0F172A"/>
                </a:solidFill>
              </a:defRPr>
            </a:pPr>
            <a:r>
              <a:t>• Scoring Metric: Macro-averaged F1-score across folds (Mean ± Std).</a:t>
            </a:r>
          </a:p>
          <a:p>
            <a:pPr>
              <a:defRPr sz="1050">
                <a:solidFill>
                  <a:srgbClr val="0F172A"/>
                </a:solidFill>
              </a:defRPr>
            </a:pPr>
            <a:r>
              <a:t>• Reporting Standard: Deep models evaluated across 3 random seeds per fold to guarantee statistical repeatability.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MODEL OPTIMIZATION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Temporal Window Length Optimization: 2 s vs 3 s vs 4 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Objective Optimization Rule</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Pre-Registered Selection Metric (D-046)</a:t>
            </a:r>
          </a:p>
          <a:p>
            <a:pPr>
              <a:defRPr sz="1050">
                <a:solidFill>
                  <a:srgbClr val="0F172A"/>
                </a:solidFill>
              </a:defRPr>
            </a:pPr>
            <a:r>
              <a:t>• Window Selection Rule: Average LOSO macro-F1 across presence, state, and event tasks using dynamic features.</a:t>
            </a:r>
          </a:p>
          <a:p>
            <a:pPr>
              <a:defRPr sz="1050">
                <a:solidFill>
                  <a:srgbClr val="0F172A"/>
                </a:solidFill>
              </a:defRPr>
            </a:pPr>
            <a:r>
              <a:t>• Evaluated Lengths: 2.0 s, 3.0 s, and 4.0 s sliding windows with 0.5 s step hop.</a:t>
            </a:r>
          </a:p>
          <a:p>
            <a:pPr>
              <a:defRPr sz="1050">
                <a:solidFill>
                  <a:srgbClr val="0F172A"/>
                </a:solidFill>
              </a:defRPr>
            </a:pPr>
            <a:r>
              <a:t>• 2-second Windows: Score = 0.533 (Events: 0.450, State: 0.563, Presence: 0.585).</a:t>
            </a:r>
          </a:p>
          <a:p>
            <a:pPr>
              <a:defRPr sz="1050">
                <a:solidFill>
                  <a:srgbClr val="0F172A"/>
                </a:solidFill>
              </a:defRPr>
            </a:pPr>
            <a:r>
              <a:t>• 3-second Windows: Score = 0.582 (Events: 0.503, State: 0.580, Presence: 0.665).</a:t>
            </a:r>
          </a:p>
          <a:p>
            <a:pPr>
              <a:defRPr sz="1050">
                <a:solidFill>
                  <a:srgbClr val="0F172A"/>
                </a:solidFill>
              </a:defRPr>
            </a:pPr>
            <a:r>
              <a:t>• 4-second Windows: Score = 0.603 (Events: 0.539, State: 0.572, Presence: 0.698)  ==&gt;  WINNER (4 s Adopted).</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Physical Kinematic Justification</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Capturing the Anatomy of a Fall</a:t>
            </a:r>
          </a:p>
          <a:p>
            <a:pPr>
              <a:defRPr sz="1050">
                <a:solidFill>
                  <a:srgbClr val="0F172A"/>
                </a:solidFill>
              </a:defRPr>
            </a:pPr>
            <a:r>
              <a:t>• Anatomy of a Fall: A human fall consists of: (1) Pre-fall loss of balance, (2) Rapid downward descent (0.5–1.0 s), (3) Floor impact shock, and (4) Post-fall motionless immobility.</a:t>
            </a:r>
          </a:p>
          <a:p>
            <a:pPr>
              <a:defRPr sz="1050">
                <a:solidFill>
                  <a:srgbClr val="0F172A"/>
                </a:solidFill>
              </a:defRPr>
            </a:pPr>
            <a:r>
              <a:t>• Window Sizing Physics: A 2 s window truncates either the initial descent or post-fall stillness.</a:t>
            </a:r>
          </a:p>
          <a:p>
            <a:pPr>
              <a:defRPr sz="1050">
                <a:solidFill>
                  <a:srgbClr val="0F172A"/>
                </a:solidFill>
              </a:defRPr>
            </a:pPr>
            <a:r>
              <a:t>• The 4 s Advantage: A 4 s window captures the entire transition from standing motion to impact to lying prone.</a:t>
            </a:r>
          </a:p>
          <a:p>
            <a:pPr>
              <a:defRPr sz="1050">
                <a:solidFill>
                  <a:srgbClr val="0F172A"/>
                </a:solidFill>
              </a:defRPr>
            </a:pPr>
            <a:r>
              <a:t>• Latency Trade-off: While 4 s introduces slightly longer window latency, a 0.5 s hop rate ensures the live engine refreshes predictions every 500 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MODEL COMPARISON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Model Benchmarking (Track A): Classical Machine Learning</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Benchmark Results on 4 s Windows (Dynamic f2 Features)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LOSO 6-Fold Performance Summary</a:t>
            </a:r>
          </a:p>
          <a:p>
            <a:pPr>
              <a:defRPr sz="1050">
                <a:solidFill>
                  <a:srgbClr val="0F172A"/>
                </a:solidFill>
              </a:defRPr>
            </a:pPr>
            <a:r>
              <a:t>• Events (5 Classes: Fall, Sit, Stand, Bend, None):</a:t>
            </a:r>
          </a:p>
          <a:p>
            <a:pPr>
              <a:defRPr sz="1050">
                <a:solidFill>
                  <a:srgbClr val="0F172A"/>
                </a:solidFill>
              </a:defRPr>
            </a:pPr>
            <a:r>
              <a:t>•   • SVM-RBF (Dynamic f2): Macro-F1 = 0.539 ± 0.054 (Fall F1: 0.521, Fall Recall: 0.552).</a:t>
            </a:r>
          </a:p>
          <a:p>
            <a:pPr>
              <a:defRPr sz="1050">
                <a:solidFill>
                  <a:srgbClr val="0F172A"/>
                </a:solidFill>
              </a:defRPr>
            </a:pPr>
            <a:r>
              <a:t>•   • XGBoost (Dynamic f2): Macro-F1 = 0.523 ± 0.084 (Fall F1: 0.560, Fall Recall: 0.512).</a:t>
            </a:r>
          </a:p>
          <a:p>
            <a:pPr>
              <a:defRPr sz="1050">
                <a:solidFill>
                  <a:srgbClr val="0F172A"/>
                </a:solidFill>
              </a:defRPr>
            </a:pPr>
            <a:r>
              <a:t>•   • LightGBM / Extra Trees: Macro-F1 = 0.505 / 0.502.</a:t>
            </a:r>
          </a:p>
          <a:p>
            <a:pPr>
              <a:defRPr sz="1050">
                <a:solidFill>
                  <a:srgbClr val="0F172A"/>
                </a:solidFill>
              </a:defRPr>
            </a:pPr>
            <a:r>
              <a:t>•   • Random Forest Baseline: Macro-F1 = 0.486 ± 0.071.</a:t>
            </a:r>
          </a:p>
          <a:p>
            <a:pPr>
              <a:defRPr sz="1050">
                <a:solidFill>
                  <a:srgbClr val="0F172A"/>
                </a:solidFill>
              </a:defRPr>
            </a:pPr>
            <a:r>
              <a:t>• Postural State (4 Classes: Sit, Stand, Walk, Lie):</a:t>
            </a:r>
          </a:p>
          <a:p>
            <a:pPr>
              <a:defRPr sz="1050">
                <a:solidFill>
                  <a:srgbClr val="0F172A"/>
                </a:solidFill>
              </a:defRPr>
            </a:pPr>
            <a:r>
              <a:t>•   • Extra Trees (300 trees): Macro-F1 = 0.572 ± 0.115 (Best performing model).</a:t>
            </a:r>
          </a:p>
          <a:p>
            <a:pPr>
              <a:defRPr sz="1050">
                <a:solidFill>
                  <a:srgbClr val="0F172A"/>
                </a:solidFill>
              </a:defRPr>
            </a:pPr>
            <a:r>
              <a:t>• Presence Detection (2 Classes: Empty vs Occupied):</a:t>
            </a:r>
          </a:p>
          <a:p>
            <a:pPr>
              <a:defRPr sz="1050">
                <a:solidFill>
                  <a:srgbClr val="0F172A"/>
                </a:solidFill>
              </a:defRPr>
            </a:pPr>
            <a:r>
              <a:t>•   • Logistic Regression: Macro-F1 = 0.698 ± 0.065 (Sensitivity: 0.855, Specificity: 0.828).</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Analytical Observations</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Key Insights</a:t>
            </a:r>
          </a:p>
          <a:p>
            <a:pPr>
              <a:defRPr sz="1050">
                <a:solidFill>
                  <a:srgbClr val="0F172A"/>
                </a:solidFill>
              </a:defRPr>
            </a:pPr>
            <a:r>
              <a:t>• Linear vs Kernel Boundaries: SVM with Radial Basis Function kernel excelled at complex dynamic event boundaries.</a:t>
            </a:r>
          </a:p>
          <a:p>
            <a:pPr>
              <a:defRPr sz="1050">
                <a:solidFill>
                  <a:srgbClr val="0F172A"/>
                </a:solidFill>
              </a:defRPr>
            </a:pPr>
            <a:r>
              <a:t>• Ensemble Robustness: Extra Trees outperformed single trees and standard RF on stationary postures.</a:t>
            </a:r>
          </a:p>
          <a:p>
            <a:pPr>
              <a:defRPr sz="1050">
                <a:solidFill>
                  <a:srgbClr val="0F172A"/>
                </a:solidFill>
              </a:defRPr>
            </a:pPr>
            <a:r>
              <a:t>• Cross-Session Stability: S5 and S6 afternoon folds achieved strong F1 (0.595 and 0.520 on SVM events), confirming dynamic features generalize across sessions.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ADVANCED MODELS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Benchmarking Track B (MiniRocket) vs Track C (Deep Neural Nets)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Track B: MiniRocket Transform</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NumPy Re-Implementation (D-043)</a:t>
            </a:r>
          </a:p>
          <a:p>
            <a:pPr>
              <a:defRPr sz="1050">
                <a:solidFill>
                  <a:srgbClr val="0F172A"/>
                </a:solidFill>
              </a:defRPr>
            </a:pPr>
            <a:r>
              <a:t>• Architecture: 10,000 random convolutional kernels mapping 16 band channels at 100 Hz to pooled features with a Ridge Regression head.</a:t>
            </a:r>
          </a:p>
          <a:p>
            <a:pPr>
              <a:defRPr sz="1050">
                <a:solidFill>
                  <a:srgbClr val="0F172A"/>
                </a:solidFill>
              </a:defRPr>
            </a:pPr>
            <a:r>
              <a:t>• Events Macro-F1: 0.572 ± 0.062 (Rank 1 by selection rule D-047).</a:t>
            </a:r>
          </a:p>
          <a:p>
            <a:pPr>
              <a:defRPr sz="1050">
                <a:solidFill>
                  <a:srgbClr val="0F172A"/>
                </a:solidFill>
              </a:defRPr>
            </a:pPr>
            <a:r>
              <a:t>• Presence Macro-F1: 0.729 ± 0.178 (Highest raw mean, but high variance across folds).</a:t>
            </a:r>
          </a:p>
          <a:p>
            <a:pPr>
              <a:defRPr sz="1050">
                <a:solidFill>
                  <a:srgbClr val="0F172A"/>
                </a:solidFill>
              </a:defRPr>
            </a:pPr>
            <a:r>
              <a:t>• The MiniRocket Flaw: Poor window-level fall recall (0.434 vs 0.552 for SVM); uncalibrated ridge scores; high CPU inference latency (326 ms single-window).</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Track C: 10 Deep Learning Architectures</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Fixed Budget (AdamW, Patience 6, 3 Seeds)</a:t>
            </a:r>
          </a:p>
          <a:p>
            <a:pPr>
              <a:defRPr sz="1050">
                <a:solidFill>
                  <a:srgbClr val="0F172A"/>
                </a:solidFill>
              </a:defRPr>
            </a:pPr>
            <a:r>
              <a:t>• Evaluated Models: 1D-CNN, CNN-LSTM, CNN-BiLSTM, BiLSTM, GRU, TCN, ResNet-1D, ABLSTM, THAT (Transformer). Model sizes: 19k to 127k parameters.</a:t>
            </a:r>
          </a:p>
          <a:p>
            <a:pPr>
              <a:defRPr sz="1050">
                <a:solidFill>
                  <a:srgbClr val="0F172A"/>
                </a:solidFill>
              </a:defRPr>
            </a:pPr>
            <a:r>
              <a:t>• Events Performance: Best deep model (CNN-BiLSTM) achieved only 0.344 ± 0.041 macro-F1.</a:t>
            </a:r>
          </a:p>
          <a:p>
            <a:pPr>
              <a:defRPr sz="1050">
                <a:solidFill>
                  <a:srgbClr val="0F172A"/>
                </a:solidFill>
              </a:defRPr>
            </a:pPr>
            <a:r>
              <a:t>• Remaining Architectures: Scored between 0.332 and 0.264 macro-F1.</a:t>
            </a:r>
          </a:p>
          <a:p>
            <a:pPr>
              <a:defRPr sz="1050">
                <a:solidFill>
                  <a:srgbClr val="0F172A"/>
                </a:solidFill>
              </a:defRPr>
            </a:pPr>
            <a:r>
              <a:t>• Outcome: Deep learning models severely underperformed classical tabular models by over 20% F1.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FAILURE ANALYSIS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Why Deep Learning Failed: Empirical Loss Curves &amp; Small Data</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The Overfitting Divergence</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Training vs. Validation Trajectories</a:t>
            </a:r>
          </a:p>
          <a:p>
            <a:pPr>
              <a:defRPr sz="1050">
                <a:solidFill>
                  <a:srgbClr val="0F172A"/>
                </a:solidFill>
              </a:defRPr>
            </a:pPr>
            <a:r>
              <a:t>• Empirical Evidence: Recorded across all 10 architectures (results/phase4/track_c/*_curves.png).</a:t>
            </a:r>
          </a:p>
          <a:p>
            <a:pPr>
              <a:defRPr sz="1050">
                <a:solidFill>
                  <a:srgbClr val="0F172A"/>
                </a:solidFill>
              </a:defRPr>
            </a:pPr>
            <a:r>
              <a:t>• Training Loss: Rapidly plunged to ~0.2 within 5 epochs.</a:t>
            </a:r>
          </a:p>
          <a:p>
            <a:pPr>
              <a:defRPr sz="1050">
                <a:solidFill>
                  <a:srgbClr val="0F172A"/>
                </a:solidFill>
              </a:defRPr>
            </a:pPr>
            <a:r>
              <a:t>• Validation Loss: Diverged sharply upwards beginning as early as epoch 3!</a:t>
            </a:r>
          </a:p>
          <a:p>
            <a:pPr>
              <a:defRPr sz="1050">
                <a:solidFill>
                  <a:srgbClr val="0F172A"/>
                </a:solidFill>
              </a:defRPr>
            </a:pPr>
            <a:r>
              <a:t>• Early Stopping: Consistently triggered at median epochs 5 to 9 across all folds.</a:t>
            </a:r>
          </a:p>
          <a:p>
            <a:pPr>
              <a:defRPr sz="1050">
                <a:solidFill>
                  <a:srgbClr val="0F172A"/>
                </a:solidFill>
              </a:defRPr>
            </a:pPr>
            <a:r>
              <a:t>• Event Class Collapse: Deep models severely under-predicted transient events, exhibiting recalls between 0.10 and 0.40.</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Physical Root Causes of Deep Failure</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Theoretical Lessons</a:t>
            </a:r>
          </a:p>
          <a:p>
            <a:pPr>
              <a:defRPr sz="1050">
                <a:solidFill>
                  <a:srgbClr val="0F172A"/>
                </a:solidFill>
              </a:defRPr>
            </a:pPr>
            <a:r>
              <a:t>• Small Sample Regime: 2401 windows from 6 human subjects is insufficient to constrain 100,000+ deep neural parameters.</a:t>
            </a:r>
          </a:p>
          <a:p>
            <a:pPr>
              <a:defRPr sz="1050">
                <a:solidFill>
                  <a:srgbClr val="0F172A"/>
                </a:solidFill>
              </a:defRPr>
            </a:pPr>
            <a:r>
              <a:t>• Multipath Domain Shift: Deep networks memorized the static multipath scattering profiles of individual training subjects rather than generalizable body kinematics.</a:t>
            </a:r>
          </a:p>
          <a:p>
            <a:pPr>
              <a:defRPr sz="1050">
                <a:solidFill>
                  <a:srgbClr val="0F172A"/>
                </a:solidFill>
              </a:defRPr>
            </a:pPr>
            <a:r>
              <a:t>• Tabular Dominance: Physics-engineered features (Doppler power, phase circular variance) combined with max-margin classifiers (SVM) provide essential inductive bias.</a:t>
            </a:r>
          </a:p>
          <a:p>
            <a:pPr>
              <a:defRPr sz="1050">
                <a:solidFill>
                  <a:srgbClr val="0F172A"/>
                </a:solidFill>
              </a:defRPr>
            </a:pPr>
            <a:r>
              <a:t>• Scientific Honesty (D-048): Deep failure reported transparently as-run without post-hoc cherry-picking.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DECISION REGISTER D-050</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Gate 4 Model Selection: Justifying Departures from the Rule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Adopted Final Production Models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4 s Windows, Dynamic f2 Features</a:t>
            </a:r>
          </a:p>
          <a:p>
            <a:pPr>
              <a:defRPr sz="1050">
                <a:solidFill>
                  <a:srgbClr val="0F172A"/>
                </a:solidFill>
              </a:defRPr>
            </a:pPr>
            <a:r>
              <a:t>• Events Task: SVM-RBF (C = 10, γ = 0.01) — Macro-F1: 0.539 ± 0.054.</a:t>
            </a:r>
          </a:p>
          <a:p>
            <a:pPr>
              <a:defRPr sz="1050">
                <a:solidFill>
                  <a:srgbClr val="0F172A"/>
                </a:solidFill>
              </a:defRPr>
            </a:pPr>
            <a:r>
              <a:t>• Postural State Task: Extra Trees (300 trees, max_feat = 0.3) — Macro-F1: 0.572 ± 0.115.</a:t>
            </a:r>
          </a:p>
          <a:p>
            <a:pPr>
              <a:defRPr sz="1050">
                <a:solidFill>
                  <a:srgbClr val="0F172A"/>
                </a:solidFill>
              </a:defRPr>
            </a:pPr>
            <a:r>
              <a:t>• Presence Task: Logistic Regression (C = 1.0) — Macro-F1: 0.698 ± 0.065.</a:t>
            </a:r>
          </a:p>
          <a:p>
            <a:pPr>
              <a:defRPr sz="1050">
                <a:solidFill>
                  <a:srgbClr val="0F172A"/>
                </a:solidFill>
              </a:defRPr>
            </a:pPr>
            <a:r>
              <a:t>• Fall Alarm Engine: Platt-Calibrated Binary SVM-RBF (C = 1.0, γ = 0.01).</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Why We Overruled MiniRocket (Decision D-050)</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Life-Safety &amp; Real-Time Rationale</a:t>
            </a:r>
          </a:p>
          <a:p>
            <a:pPr>
              <a:defRPr sz="1050">
                <a:solidFill>
                  <a:srgbClr val="0F172A"/>
                </a:solidFill>
              </a:defRPr>
            </a:pPr>
            <a:r>
              <a:t>• 1. Fall Sensitivity Priority: MiniRocket achieved higher overall F1 (0.572 vs 0.539) by predicting common classes, but had POOR fall recall (0.434 vs 0.552 for SVM). For a fall alarm, missing falls is unacceptable.</a:t>
            </a:r>
          </a:p>
          <a:p>
            <a:pPr>
              <a:defRPr sz="1050">
                <a:solidFill>
                  <a:srgbClr val="0F172A"/>
                </a:solidFill>
              </a:defRPr>
            </a:pPr>
            <a:r>
              <a:t>• 2. Probability Calibration: MiniRocket's ridge head outputs uncalibrated scores; SVM provides Platt-calibrated posterior probabilities P(fall) essential for threshold gating.</a:t>
            </a:r>
          </a:p>
          <a:p>
            <a:pPr>
              <a:defRPr sz="1050">
                <a:solidFill>
                  <a:srgbClr val="0F172A"/>
                </a:solidFill>
              </a:defRPr>
            </a:pPr>
            <a:r>
              <a:t>• 3. Real-Time Latency: Single-window MiniRocket transform requires 326 ms on CPU; SVM inference requires &lt; 1 ms on f2 features (total Predictor call = 67 ms with cached PCA), easily fitting inside 500 ms engine cycles.</a:t>
            </a:r>
          </a:p>
          <a:p>
            <a:pPr>
              <a:defRPr sz="1050">
                <a:solidFill>
                  <a:srgbClr val="0F172A"/>
                </a:solidFill>
              </a:defRPr>
            </a:pPr>
            <a:r>
              <a:t>• 4. Presence Stability: MiniRocket collapsed on subjects S3 (0.474) and S4 (0.487); Logistic Regression was completely stable (± 0.065).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FALL ALARM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Calibrated Fall Alarm Chain Architecture (Decision D-051)</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Continuous Stream Decision Chain</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Moving Beyond Isolated Window Testing</a:t>
            </a:r>
          </a:p>
          <a:p>
            <a:pPr>
              <a:defRPr sz="1050">
                <a:solidFill>
                  <a:srgbClr val="0F172A"/>
                </a:solidFill>
              </a:defRPr>
            </a:pPr>
            <a:r>
              <a:t>• The Reality Gap: Testing isolated windows does not reflect reality. In real life, a streaming engine processes continuous overlapping windows.</a:t>
            </a:r>
          </a:p>
          <a:p>
            <a:pPr>
              <a:defRPr sz="1050">
                <a:solidFill>
                  <a:srgbClr val="0F172A"/>
                </a:solidFill>
              </a:defRPr>
            </a:pPr>
            <a:r>
              <a:t>• Binary Fall Detector: Dedicated Binary SVM-RBF (fall vs rest) with Platt (sigmoid) calibration fitted strictly on inner training folds.</a:t>
            </a:r>
          </a:p>
          <a:p>
            <a:pPr>
              <a:defRPr sz="1050">
                <a:solidFill>
                  <a:srgbClr val="0F172A"/>
                </a:solidFill>
              </a:defRPr>
            </a:pPr>
            <a:r>
              <a:t>• Nested Threshold Tuning: Threshold θ (0.30–0.95) and sliding window rule (k-of-n) optimized on inner training LOSO streams.</a:t>
            </a:r>
          </a:p>
          <a:p>
            <a:pPr>
              <a:defRPr sz="1050">
                <a:solidFill>
                  <a:srgbClr val="0F172A"/>
                </a:solidFill>
              </a:defRPr>
            </a:pPr>
            <a:r>
              <a:t>• Adopted Production Rule: Alarm triggered if ≥ 2 of the last 3 windows have P(fall) ≥ 0.50.</a:t>
            </a:r>
          </a:p>
          <a:p>
            <a:pPr>
              <a:defRPr sz="1050">
                <a:solidFill>
                  <a:srgbClr val="0F172A"/>
                </a:solidFill>
              </a:defRPr>
            </a:pPr>
            <a:r>
              <a:t>• Alarm Cooldown: 10-second lockout timer prevents duplicate burst alarms following an initial trigger.</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Live = Offline Equivalence (Decision D-054)</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Zero Train/Serve Skew</a:t>
            </a:r>
          </a:p>
          <a:p>
            <a:pPr>
              <a:defRPr sz="1050">
                <a:solidFill>
                  <a:srgbClr val="0F172A"/>
                </a:solidFill>
              </a:defRPr>
            </a:pPr>
            <a:r>
              <a:t>• Verification Test: Replayed 12 real takes packet-by-packet through the live buffer and compared outputs against the offline pipeline.</a:t>
            </a:r>
          </a:p>
          <a:p>
            <a:pPr>
              <a:defRPr sz="1050">
                <a:solidFill>
                  <a:srgbClr val="0F172A"/>
                </a:solidFill>
              </a:defRPr>
            </a:pPr>
            <a:r>
              <a:t>• Bit-Identical Result: Exact 0.00000 maximum absolute difference in features, X, P, and probabilities across all 378 real windows!</a:t>
            </a:r>
          </a:p>
          <a:p>
            <a:pPr>
              <a:defRPr sz="1050">
                <a:solidFill>
                  <a:srgbClr val="0F172A"/>
                </a:solidFill>
              </a:defRPr>
            </a:pPr>
            <a:r>
              <a:t>• Significance: Proves zero train-serve skew between laboratory Python code and production streaming runtime.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EMPIRICAL EVALUATION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Fall Detection Stream Performance: Evaluating the Full Chain</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Continuous Stream Benchmark Results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Tested on All 202 Real Takes (2401 Windows)</a:t>
            </a:r>
          </a:p>
          <a:p>
            <a:pPr>
              <a:defRPr sz="1050">
                <a:solidFill>
                  <a:srgbClr val="0F172A"/>
                </a:solidFill>
              </a:defRPr>
            </a:pPr>
            <a:r>
              <a:t>• Metric | Baseline 5-Class SVM (θ=0.6, 2-of-3) | Adopted Calibrated Chain (D-051)</a:t>
            </a:r>
          </a:p>
          <a:p>
            <a:pPr>
              <a:defRPr sz="1050">
                <a:solidFill>
                  <a:srgbClr val="0F172A"/>
                </a:solidFill>
              </a:defRPr>
            </a:pPr>
            <a:r>
              <a:t>• --------------------------------------------------------------------------------</a:t>
            </a:r>
          </a:p>
          <a:p>
            <a:pPr>
              <a:defRPr sz="1050">
                <a:solidFill>
                  <a:srgbClr val="0F172A"/>
                </a:solidFill>
              </a:defRPr>
            </a:pPr>
            <a:r>
              <a:t>• Falls Detected           | 18 of 42 (42.9%)              | 21 of 42 (50.0%)</a:t>
            </a:r>
          </a:p>
          <a:p>
            <a:pPr>
              <a:defRPr sz="1050">
                <a:solidFill>
                  <a:srgbClr val="0F172A"/>
                </a:solidFill>
              </a:defRPr>
            </a:pPr>
            <a:r>
              <a:t>• Look-Alike False Alarms  | 9 of 109 takes (8.3%)         | 8 of 109 takes (7.3%)</a:t>
            </a:r>
          </a:p>
          <a:p>
            <a:pPr>
              <a:defRPr sz="1050">
                <a:solidFill>
                  <a:srgbClr val="0F172A"/>
                </a:solidFill>
              </a:defRPr>
            </a:pPr>
            <a:r>
              <a:t>• Walking False Alarms     | 45.4 / hour (6 in 0.132 h)    | 30.3 / hour (4 in 0.132 h)</a:t>
            </a:r>
          </a:p>
          <a:p>
            <a:pPr>
              <a:defRPr sz="1050">
                <a:solidFill>
                  <a:srgbClr val="0F172A"/>
                </a:solidFill>
              </a:defRPr>
            </a:pPr>
            <a:r>
              <a:t>• Still-Take False Alarms  | 3.2 / hour (1 in 0.314 h)     | 6.4 / hour (2 in 0.314 h)</a:t>
            </a:r>
          </a:p>
          <a:p>
            <a:pPr>
              <a:defRPr sz="1050">
                <a:solidFill>
                  <a:srgbClr val="0F172A"/>
                </a:solidFill>
              </a:defRPr>
            </a:pPr>
            <a:r>
              <a:t>• Median Trigger Latency   | 2.05 s post-onset             | 1.99 s post-onset</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Detailed Take-Level Breakdown</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Per-Fold Performance &amp; Caveats</a:t>
            </a:r>
          </a:p>
          <a:p>
            <a:pPr>
              <a:defRPr sz="1050">
                <a:solidFill>
                  <a:srgbClr val="0F172A"/>
                </a:solidFill>
              </a:defRPr>
            </a:pPr>
            <a:r>
              <a:t>• Per-Fold Falls Caught: S1: 2/8, S2: 2/5, S3: 4/5, S4: 3/8, S5: 5/8, S6: 5/8 (Total: 21/42).</a:t>
            </a:r>
          </a:p>
          <a:p>
            <a:pPr>
              <a:defRPr sz="1050">
                <a:solidFill>
                  <a:srgbClr val="0F172A"/>
                </a:solidFill>
              </a:defRPr>
            </a:pPr>
            <a:r>
              <a:t>• Look-Alike False Alarms: 5 in sit_down, 3 in stand_up, 0 in bend_pick.</a:t>
            </a:r>
          </a:p>
          <a:p>
            <a:pPr>
              <a:defRPr sz="1050">
                <a:solidFill>
                  <a:srgbClr val="0F172A"/>
                </a:solidFill>
              </a:defRPr>
            </a:pPr>
            <a:r>
              <a:t>• Honest Engineering Reality: Catching 50% of falls with a 7.3% look-alike false alarm rate and 30 walking alarms/hour demonstrates proof-of-concept feasibility, but confirms the system is not yet a clinical medical device.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ABLATION ANALYSIS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Systematic Ablation Studies: What Drives Physical Sensing?</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Feature &amp; Sensor Ablations (Events Task, SVM-RBF, 4 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Macro-F1 Performance Impact</a:t>
            </a:r>
          </a:p>
          <a:p>
            <a:pPr>
              <a:defRPr sz="1050">
                <a:solidFill>
                  <a:srgbClr val="0F172A"/>
                </a:solidFill>
              </a:defRPr>
            </a:pPr>
            <a:r>
              <a:t>• Ablation Condition | Macro-F1 | Delta vs Reference | Physical Meaning</a:t>
            </a:r>
          </a:p>
          <a:p>
            <a:pPr>
              <a:defRPr sz="1050">
                <a:solidFill>
                  <a:srgbClr val="0F172A"/>
                </a:solidFill>
              </a:defRPr>
            </a:pPr>
            <a:r>
              <a:t>• ---------------------------------------------------------------------------------</a:t>
            </a:r>
          </a:p>
          <a:p>
            <a:pPr>
              <a:defRPr sz="1050">
                <a:solidFill>
                  <a:srgbClr val="0F172A"/>
                </a:solidFill>
              </a:defRPr>
            </a:pPr>
            <a:r>
              <a:t>• Dynamic Reference  | 0.539    | Reference         | All 50 dynamic f2 features</a:t>
            </a:r>
          </a:p>
          <a:p>
            <a:pPr>
              <a:defRPr sz="1050">
                <a:solidFill>
                  <a:srgbClr val="0F172A"/>
                </a:solidFill>
              </a:defRPr>
            </a:pPr>
            <a:r>
              <a:t>• Static Only        | 0.353    | -0.186            | Static profiles fail completely</a:t>
            </a:r>
          </a:p>
          <a:p>
            <a:pPr>
              <a:defRPr sz="1050">
                <a:solidFill>
                  <a:srgbClr val="0F172A"/>
                </a:solidFill>
              </a:defRPr>
            </a:pPr>
            <a:r>
              <a:t>• RX1 Only (Upper)   | 0.384    | -0.155            | Loses spatial diversity</a:t>
            </a:r>
          </a:p>
          <a:p>
            <a:pPr>
              <a:defRPr sz="1050">
                <a:solidFill>
                  <a:srgbClr val="0F172A"/>
                </a:solidFill>
              </a:defRPr>
            </a:pPr>
            <a:r>
              <a:t>• RX2 Only (Lower)   | 0.403    | -0.136            | Loses link diversity</a:t>
            </a:r>
          </a:p>
          <a:p>
            <a:pPr>
              <a:defRPr sz="1050">
                <a:solidFill>
                  <a:srgbClr val="0F172A"/>
                </a:solidFill>
              </a:defRPr>
            </a:pPr>
            <a:r>
              <a:t>• Minus Motion Energy| 0.474    | -0.065            | Motion energy is top feature</a:t>
            </a:r>
          </a:p>
          <a:p>
            <a:pPr>
              <a:defRPr sz="1050">
                <a:solidFill>
                  <a:srgbClr val="0F172A"/>
                </a:solidFill>
              </a:defRPr>
            </a:pPr>
            <a:r>
              <a:t>• Minus Bandpowers   | 0.494    | -0.045            | Doppler spectrum is critical</a:t>
            </a:r>
          </a:p>
          <a:p>
            <a:pPr>
              <a:defRPr sz="1050">
                <a:solidFill>
                  <a:srgbClr val="0F172A"/>
                </a:solidFill>
              </a:defRPr>
            </a:pPr>
            <a:r>
              <a:t>• Minus Phase        | 0.527    | -0.012            | Sanitized phase adds boost</a:t>
            </a:r>
          </a:p>
          <a:p>
            <a:pPr>
              <a:defRPr sz="1050">
                <a:solidFill>
                  <a:srgbClr val="0F172A"/>
                </a:solidFill>
              </a:defRPr>
            </a:pPr>
            <a:r>
              <a:t>• Amplitude Only     | 0.535    | -0.004            | Phase helps slightly on events</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Key Physical Insights</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Core Takeaways</a:t>
            </a:r>
          </a:p>
          <a:p>
            <a:pPr>
              <a:defRPr sz="1050">
                <a:solidFill>
                  <a:srgbClr val="0F172A"/>
                </a:solidFill>
              </a:defRPr>
            </a:pPr>
            <a:r>
              <a:t>• Dual Antennas are Mandatory: Dropping either receiver collapses F1 from 0.539 to ~0.39. Two spatial vantage points are essential to overcome human body shadowing.</a:t>
            </a:r>
          </a:p>
          <a:p>
            <a:pPr>
              <a:defRPr sz="1050">
                <a:solidFill>
                  <a:srgbClr val="0F172A"/>
                </a:solidFill>
              </a:defRPr>
            </a:pPr>
            <a:r>
              <a:t>• Doppler &amp; Energy Dominate: Motion energy and FFT bandpowers carry over 70% of discriminatory event information.</a:t>
            </a:r>
          </a:p>
          <a:p>
            <a:pPr>
              <a:defRPr sz="1050">
                <a:solidFill>
                  <a:srgbClr val="0F172A"/>
                </a:solidFill>
              </a:defRPr>
            </a:pPr>
            <a:r>
              <a:t>• Phase Utility: Phase adds minor gains (+0.012) to events, but substantial stability (+0.039) to presence.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LIVE SYSTEM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Live Real-Time Streaming Engine Architecture (app/engine_proc.py)</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Decoupled Multi-Process Architecture (D-057)</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Overcoming Streamlit GIL Contention</a:t>
            </a:r>
          </a:p>
          <a:p>
            <a:pPr>
              <a:defRPr sz="1050">
                <a:solidFill>
                  <a:srgbClr val="0F172A"/>
                </a:solidFill>
              </a:defRPr>
            </a:pPr>
            <a:r>
              <a:t>• The Problem: In initial testing, running Streamlit web GUI and CSI serial ingestion in a single process caused GIL lock contention, degrading engine step rate from 0.50 s to 1.45 s (p90 2.27 s).</a:t>
            </a:r>
          </a:p>
          <a:p>
            <a:pPr>
              <a:defRPr sz="1050">
                <a:solidFill>
                  <a:srgbClr val="0F172A"/>
                </a:solidFill>
              </a:defRPr>
            </a:pPr>
            <a:r>
              <a:t>• The Fix (D-057): Separated into a decoupled two-process architecture:</a:t>
            </a:r>
          </a:p>
          <a:p>
            <a:pPr>
              <a:defRPr sz="1050">
                <a:solidFill>
                  <a:srgbClr val="0F172A"/>
                </a:solidFill>
              </a:defRPr>
            </a:pPr>
            <a:r>
              <a:t>•   1. Engine Daemon (app/engine_proc.py): Native background process reading serial streams, maintaining circular ring buffers, and executing inference every 500 ms.</a:t>
            </a:r>
          </a:p>
          <a:p>
            <a:pPr>
              <a:defRPr sz="1050">
                <a:solidFill>
                  <a:srgbClr val="0F172A"/>
                </a:solidFill>
              </a:defRPr>
            </a:pPr>
            <a:r>
              <a:t>•   2. GUI Dashboard (app/live_app.py): Streamlit web interface polling predictions via local authenticated IPC socket.</a:t>
            </a:r>
          </a:p>
          <a:p>
            <a:pPr>
              <a:defRPr sz="1050">
                <a:solidFill>
                  <a:srgbClr val="0F172A"/>
                </a:solidFill>
              </a:defRPr>
            </a:pPr>
            <a:r>
              <a:t>• Outcome: Live step compute locked at 383 ms median, stepping precisely every 0.50 s.</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Safety Features &amp; Zero Stale Window Protection (D-053)</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Defensive Live Runtime</a:t>
            </a:r>
          </a:p>
          <a:p>
            <a:pPr>
              <a:defRPr sz="1050">
                <a:solidFill>
                  <a:srgbClr val="0F172A"/>
                </a:solidFill>
              </a:defRPr>
            </a:pPr>
            <a:r>
              <a:t>• Stale Buffer Detection: If any receiver falls silent for &gt; 1.0 s, engine outputs 'degraded' or 'no_signal', NEVER predicting on stale packets.</a:t>
            </a:r>
          </a:p>
          <a:p>
            <a:pPr>
              <a:defRPr sz="1050">
                <a:solidFill>
                  <a:srgbClr val="0F172A"/>
                </a:solidFill>
              </a:defRPr>
            </a:pPr>
            <a:r>
              <a:t>• Auto-Reconnection: Recovers dynamically via /dev/serial/by-id hardware tokens on unplug/replug.</a:t>
            </a:r>
          </a:p>
          <a:p>
            <a:pPr>
              <a:defRPr sz="1050">
                <a:solidFill>
                  <a:srgbClr val="0F172A"/>
                </a:solidFill>
              </a:defRPr>
            </a:pPr>
            <a:r>
              <a:t>• BLAS Single-Threading: Limited OpenBLAS to 1 thread on host laptop, slashing step compute from 533 ms to 251 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LIVE HARDWARE DEBUGGING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Live Library Field Trials &amp; The RX2 Connector Diagnostic</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The Morning Live Mystery (Session 3)</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Complete Loss of Motion Response</a:t>
            </a:r>
          </a:p>
          <a:p>
            <a:pPr>
              <a:defRPr sz="1050">
                <a:solidFill>
                  <a:srgbClr val="0F172A"/>
                </a:solidFill>
              </a:defRPr>
            </a:pPr>
            <a:r>
              <a:t>• The Symptom: Live test ran for 14 min without crashing, but walking across the link was called 'empty' (walk 3/83) and the fall produced zero alarm (max P = 0.33).</a:t>
            </a:r>
          </a:p>
          <a:p>
            <a:pPr>
              <a:defRPr sz="1050">
                <a:solidFill>
                  <a:srgbClr val="0F172A"/>
                </a:solidFill>
              </a:defRPr>
            </a:pPr>
            <a:r>
              <a:t>• Offline Verification: Diagnostic takes recorded on the boards failed identically offline, proving the software was innocent—the issue was physical RF!</a:t>
            </a:r>
          </a:p>
          <a:p>
            <a:pPr>
              <a:defRPr sz="1050">
                <a:solidFill>
                  <a:srgbClr val="0F172A"/>
                </a:solidFill>
              </a:defRPr>
            </a:pPr>
            <a:r>
              <a:t>• The Anomaly: RX2 RSSI was 4.5 dB abnormally high (-33.6 dBm vs -38 dBm baseline), yet RX2 motion features sat at the 0th to 5th percentile (completely motion-blind!).</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The Antenna Swap Test &amp; U.FL Resolution (D-060)</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Systematic Hardware Isolation</a:t>
            </a:r>
          </a:p>
          <a:p>
            <a:pPr>
              <a:defRPr sz="1050">
                <a:solidFill>
                  <a:srgbClr val="0F172A"/>
                </a:solidFill>
              </a:defRPr>
            </a:pPr>
            <a:r>
              <a:t>• Antenna Swap (Round 3): Swapped Antenna A (from RX1) to RX2, and Antenna B to RX1.</a:t>
            </a:r>
          </a:p>
          <a:p>
            <a:pPr>
              <a:defRPr sz="1050">
                <a:solidFill>
                  <a:srgbClr val="0F172A"/>
                </a:solidFill>
              </a:defRPr>
            </a:pPr>
            <a:r>
              <a:t>• The Discovery: RX2 immediately sprang to life! Motion features surged to the 72nd–97th percentile. Walking was recognized 47/52 times. RX1 remained healthy with Antenna B.</a:t>
            </a:r>
          </a:p>
          <a:p>
            <a:pPr>
              <a:defRPr sz="1050">
                <a:solidFill>
                  <a:srgbClr val="0F172A"/>
                </a:solidFill>
              </a:defRPr>
            </a:pPr>
            <a:r>
              <a:t>• Root Cause Identified: A poorly mated U.FL micro-coaxial connector on RX2. It created RF reflection and severe static leakage that blinded the receiver to dynamic Doppler shifts.</a:t>
            </a:r>
          </a:p>
          <a:p>
            <a:pPr>
              <a:defRPr sz="1050">
                <a:solidFill>
                  <a:srgbClr val="0F172A"/>
                </a:solidFill>
              </a:defRPr>
            </a:pPr>
            <a:r>
              <a:t>• Resolution: Firmly reseated the U.FL connector and confirmed vertical polarization, restoring normal sensing.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LIVE SYSTEM VALIDATION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Final 14-Minute Continuous Live Field Validation Results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Continuous Live Run Overview (2026-10-23 11:40–11:53)</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1658 Steps at 0.50 s Interval</a:t>
            </a:r>
          </a:p>
          <a:p>
            <a:pPr>
              <a:defRPr sz="1050">
                <a:solidFill>
                  <a:srgbClr val="0F172A"/>
                </a:solidFill>
              </a:defRPr>
            </a:pPr>
            <a:r>
              <a:t>• Physical Setup: College Library Reading Hall, campus Wi-Fi active, spoken audio cues.</a:t>
            </a:r>
          </a:p>
          <a:p>
            <a:pPr>
              <a:defRPr sz="1050">
                <a:solidFill>
                  <a:srgbClr val="0F172A"/>
                </a:solidFill>
              </a:defRPr>
            </a:pPr>
            <a:r>
              <a:t>• System Health: Ran continuously for 14 minutes (1658 inference cycles) with zero crashes.</a:t>
            </a:r>
          </a:p>
          <a:p>
            <a:pPr>
              <a:defRPr sz="1050">
                <a:solidFill>
                  <a:srgbClr val="0F172A"/>
                </a:solidFill>
              </a:defRPr>
            </a:pPr>
            <a:r>
              <a:t>• Walk Across Link (Path 2, Horizontal): 37 of 42 windows correctly identified as Walk (88.1% recall)! Triggered 2 false fall alarms during fast walking (P = 0.57, 0.50).</a:t>
            </a:r>
          </a:p>
          <a:p>
            <a:pPr>
              <a:defRPr sz="1050">
                <a:solidFill>
                  <a:srgbClr val="0F172A"/>
                </a:solidFill>
              </a:defRPr>
            </a:pPr>
            <a:r>
              <a:t>• Walk Along Link (Path 1, Vertical): 6 of 51 windows correct (mostly called 'empty'; reveals Doppler blind zone).</a:t>
            </a:r>
          </a:p>
          <a:p>
            <a:pPr>
              <a:defRPr sz="1050">
                <a:solidFill>
                  <a:srgbClr val="0F172A"/>
                </a:solidFill>
              </a:defRPr>
            </a:pPr>
            <a:r>
              <a:t>• Simulated Mattress Fall: Event detected in 2 windows, but max P(fall) = 0.28 (failed to cross θ = 0.50 threshold -&gt; NO ALARM).</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Analytical Assessment of Live Reality</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Why Live Diverged from LOSO</a:t>
            </a:r>
          </a:p>
          <a:p>
            <a:pPr>
              <a:defRPr sz="1050">
                <a:solidFill>
                  <a:srgbClr val="0F172A"/>
                </a:solidFill>
              </a:defRPr>
            </a:pPr>
            <a:r>
              <a:t>• 1. Presence Fragility: Logistic regression presence boundary sits inside empty-room variance; empty room was called occupied in 17/52 windows, corrupting state transitions.</a:t>
            </a:r>
          </a:p>
          <a:p>
            <a:pPr>
              <a:defRPr sz="1050">
                <a:solidFill>
                  <a:srgbClr val="0F172A"/>
                </a:solidFill>
              </a:defRPr>
            </a:pPr>
            <a:r>
              <a:t>• 2. Doppler Geometric Blind Spot: Moving along the line of sight (Path 1) produces minimal path-length changes, blinding the single-axis link.</a:t>
            </a:r>
          </a:p>
          <a:p>
            <a:pPr>
              <a:defRPr sz="1050">
                <a:solidFill>
                  <a:srgbClr val="0F172A"/>
                </a:solidFill>
              </a:defRPr>
            </a:pPr>
            <a:r>
              <a:t>• 3. RF Co-Channel Traffic: Campus library APs operating on Channel 11 caused burst packet loss up to 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LIMITATIONS &amp; INTEGRITY</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Systemic Limitations &amp; Open Engineering Challenges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Scope Limitations (Mandatory Compliance)</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Boundary Conditions of Study</a:t>
            </a:r>
          </a:p>
          <a:p>
            <a:pPr>
              <a:defRPr sz="1050">
                <a:solidFill>
                  <a:srgbClr val="0F172A"/>
                </a:solidFill>
              </a:defRPr>
            </a:pPr>
            <a:r>
              <a:t>• 1. Confined Physical Domain: All experimental data gathered in a single room (library hall) with fixed furniture.</a:t>
            </a:r>
          </a:p>
          <a:p>
            <a:pPr>
              <a:defRPr sz="1050">
                <a:solidFill>
                  <a:srgbClr val="0F172A"/>
                </a:solidFill>
              </a:defRPr>
            </a:pPr>
            <a:r>
              <a:t>• 2. Demographic Homogeneity: 6 healthy university volunteers (young adults); gait kinematics and body mass do not reflect frail geriatric demographics.</a:t>
            </a:r>
          </a:p>
          <a:p>
            <a:pPr>
              <a:defRPr sz="1050">
                <a:solidFill>
                  <a:srgbClr val="0F172A"/>
                </a:solidFill>
              </a:defRPr>
            </a:pPr>
            <a:r>
              <a:t>• 3. Simulated Fall Constraints: Falls performed onto a high-density mattress at a single spot (Spot M); cannot prove fall detection elsewhere in the room.</a:t>
            </a:r>
          </a:p>
          <a:p>
            <a:pPr>
              <a:defRPr sz="1050">
                <a:solidFill>
                  <a:srgbClr val="0F172A"/>
                </a:solidFill>
              </a:defRPr>
            </a:pPr>
            <a:r>
              <a:t>• 4. Ground Truth Proxies: No multi-camera optical motion-capture ground truth; timing relies on audio countdowns and DSP energy onset proxies.</a:t>
            </a:r>
          </a:p>
          <a:p>
            <a:pPr>
              <a:defRPr sz="1050">
                <a:solidFill>
                  <a:srgbClr val="0F172A"/>
                </a:solidFill>
              </a:defRPr>
            </a:pPr>
            <a:r>
              <a:t>• 5. Non-Clinical Device: Prototype is an academic proof-of-concept, not a certified life-safety device.</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Core Technical Deficiencies</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Engineering Bottlenecks</a:t>
            </a:r>
          </a:p>
          <a:p>
            <a:pPr>
              <a:defRPr sz="1050">
                <a:solidFill>
                  <a:srgbClr val="0F172A"/>
                </a:solidFill>
              </a:defRPr>
            </a:pPr>
            <a:r>
              <a:t>• Presence Baseline Drift: Static profile shifts cause the presence classifier to misidentify empty rooms as occupied.</a:t>
            </a:r>
          </a:p>
          <a:p>
            <a:pPr>
              <a:defRPr sz="1050">
                <a:solidFill>
                  <a:srgbClr val="0F172A"/>
                </a:solidFill>
              </a:defRPr>
            </a:pPr>
            <a:r>
              <a:t>• Directional Blind Zones: Single-axis LoS links struggle to detect motion parallel to the radio beam.</a:t>
            </a:r>
          </a:p>
          <a:p>
            <a:pPr>
              <a:defRPr sz="1050">
                <a:solidFill>
                  <a:srgbClr val="0F172A"/>
                </a:solidFill>
              </a:defRPr>
            </a:pPr>
            <a:r>
              <a:t>• Hardware RF Vulnerability: U.FL connector mating can silently blind Doppler sensitivity without triggering an RSSI drop.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CONCLUSION &amp; DEFENSE</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Academic Conclusion, Future Roadmap &amp; Viva Voce Defense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19"/>
            <a:ext cx="4846320" cy="365760"/>
          </a:xfrm>
          <a:prstGeom prst="rect">
            <a:avLst/>
          </a:prstGeom>
          <a:noFill/>
        </p:spPr>
        <p:txBody>
          <a:bodyPr wrap="square">
            <a:spAutoFit/>
          </a:bodyPr>
          <a:lstStyle/>
          <a:p>
            <a:pPr>
              <a:defRPr sz="1300" b="1">
                <a:solidFill>
                  <a:srgbClr val="1E293B"/>
                </a:solidFill>
              </a:defRPr>
            </a:pPr>
            <a:r>
              <a:t>Key Project Achievements</a:t>
            </a:r>
          </a:p>
        </p:txBody>
      </p:sp>
      <p:sp>
        <p:nvSpPr>
          <p:cNvPr id="8" name="TextBox 7"/>
          <p:cNvSpPr txBox="1"/>
          <p:nvPr/>
        </p:nvSpPr>
        <p:spPr>
          <a:xfrm>
            <a:off x="914400" y="1828800"/>
            <a:ext cx="4846320" cy="4297680"/>
          </a:xfrm>
          <a:prstGeom prst="rect">
            <a:avLst/>
          </a:prstGeom>
          <a:noFill/>
        </p:spPr>
        <p:txBody>
          <a:bodyPr wrap="square">
            <a:spAutoFit/>
          </a:bodyPr>
          <a:lstStyle/>
          <a:p>
            <a:pPr>
              <a:defRPr sz="1200" b="1">
                <a:solidFill>
                  <a:srgbClr val="1E293B"/>
                </a:solidFill>
              </a:defRPr>
            </a:pPr>
            <a:r>
              <a:t>Summary of Deliverables</a:t>
            </a:r>
          </a:p>
          <a:p>
            <a:pPr>
              <a:defRPr sz="1050">
                <a:solidFill>
                  <a:srgbClr val="0F172A"/>
                </a:solidFill>
              </a:defRPr>
            </a:pPr>
            <a:r>
              <a:t>• • Built End-to-End Testbed: Low-cost COTS ESP32-S3 transceivers capturing 114 subcarriers at 200 Hz.</a:t>
            </a:r>
          </a:p>
          <a:p>
            <a:pPr>
              <a:defRPr sz="1050">
                <a:solidFill>
                  <a:srgbClr val="0F172A"/>
                </a:solidFill>
              </a:defRPr>
            </a:pPr>
            <a:r>
              <a:t>• • Rigorous DSP Pipeline: Created anti-aliased, gain-normalized, phase-sanitized feature space f2.</a:t>
            </a:r>
          </a:p>
          <a:p>
            <a:pPr>
              <a:defRPr sz="1050">
                <a:solidFill>
                  <a:srgbClr val="0F172A"/>
                </a:solidFill>
              </a:defRPr>
            </a:pPr>
            <a:r>
              <a:t>• • Unbiased Evaluation: Proved classical models beat deep learning on small CSI data (F1: 0.70 presence, 0.57 state, 0.54 events; 21/42 falls caught).</a:t>
            </a:r>
          </a:p>
          <a:p>
            <a:pPr>
              <a:defRPr sz="1050">
                <a:solidFill>
                  <a:srgbClr val="0F172A"/>
                </a:solidFill>
              </a:defRPr>
            </a:pPr>
            <a:r>
              <a:t>• • 100% Reproducible: Automated script rebuilds features, retrains models, and validates 801 raw file checksums in 11 minutes (Phase 6 Certified).</a:t>
            </a:r>
          </a:p>
        </p:txBody>
      </p:sp>
      <p:sp>
        <p:nvSpPr>
          <p:cNvPr id="9" name="Rounded Rectangle 8"/>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19"/>
            <a:ext cx="4846320" cy="365760"/>
          </a:xfrm>
          <a:prstGeom prst="rect">
            <a:avLst/>
          </a:prstGeom>
          <a:noFill/>
        </p:spPr>
        <p:txBody>
          <a:bodyPr wrap="square">
            <a:spAutoFit/>
          </a:bodyPr>
          <a:lstStyle/>
          <a:p>
            <a:pPr>
              <a:defRPr sz="1300" b="1">
                <a:solidFill>
                  <a:srgbClr val="1E293B"/>
                </a:solidFill>
              </a:defRPr>
            </a:pPr>
            <a:r>
              <a:t>Future Technical Roadmap</a:t>
            </a:r>
          </a:p>
        </p:txBody>
      </p:sp>
      <p:sp>
        <p:nvSpPr>
          <p:cNvPr id="11" name="TextBox 10"/>
          <p:cNvSpPr txBox="1"/>
          <p:nvPr/>
        </p:nvSpPr>
        <p:spPr>
          <a:xfrm>
            <a:off x="6400800" y="1828800"/>
            <a:ext cx="4846320" cy="4297680"/>
          </a:xfrm>
          <a:prstGeom prst="rect">
            <a:avLst/>
          </a:prstGeom>
          <a:noFill/>
        </p:spPr>
        <p:txBody>
          <a:bodyPr wrap="square">
            <a:spAutoFit/>
          </a:bodyPr>
          <a:lstStyle/>
          <a:p>
            <a:pPr>
              <a:defRPr sz="1200" b="1">
                <a:solidFill>
                  <a:srgbClr val="0D9488"/>
                </a:solidFill>
              </a:defRPr>
            </a:pPr>
            <a:r>
              <a:t>Next-Generation Enhancements</a:t>
            </a:r>
          </a:p>
          <a:p>
            <a:pPr>
              <a:defRPr sz="1050">
                <a:solidFill>
                  <a:srgbClr val="0F172A"/>
                </a:solidFill>
              </a:defRPr>
            </a:pPr>
            <a:r>
              <a:t>• 1. Guided Site Calibration: 60-second automated empty-room baseline capture on startup (docs/analysis/calibration_proposal.md).</a:t>
            </a:r>
          </a:p>
          <a:p>
            <a:pPr>
              <a:defRPr sz="1050">
                <a:solidFill>
                  <a:srgbClr val="0F172A"/>
                </a:solidFill>
              </a:defRPr>
            </a:pPr>
            <a:r>
              <a:t>• 2. Multi-Angle Spatial Diversity: Add a 3rd receiver at 90° azimuth to eliminate geometric Doppler blind spots.</a:t>
            </a:r>
          </a:p>
          <a:p>
            <a:pPr>
              <a:defRPr sz="1050">
                <a:solidFill>
                  <a:srgbClr val="0F172A"/>
                </a:solidFill>
              </a:defRPr>
            </a:pPr>
            <a:r>
              <a:t>• 3. Automated Hardware Health Check: Implement preflight loopback tests to detect unseated RF connectors.</a:t>
            </a:r>
          </a:p>
          <a:p>
            <a:pPr>
              <a:defRPr sz="1050">
                <a:solidFill>
                  <a:srgbClr val="0F172A"/>
                </a:solidFill>
              </a:defRPr>
            </a:pPr>
            <a:r>
              <a:t>• Thank you! We now welcome questions from the examination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8952</Words>
  <Application>Microsoft Office PowerPoint</Application>
  <PresentationFormat>Widescreen</PresentationFormat>
  <Paragraphs>506</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Mehar Adil</cp:lastModifiedBy>
  <cp:revision>1</cp:revision>
  <dcterms:created xsi:type="dcterms:W3CDTF">2013-01-27T09:14:16Z</dcterms:created>
  <dcterms:modified xsi:type="dcterms:W3CDTF">2026-10-23T08:52:24Z</dcterms:modified>
  <cp:category/>
</cp:coreProperties>
</file>